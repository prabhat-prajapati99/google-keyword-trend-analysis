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Poppins" panose="00000500000000000000" pitchFamily="2" charset="0"/>
      <p:regular r:id="rId15"/>
    </p:embeddedFont>
    <p:embeddedFont>
      <p:font typeface="Poppins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0" d="100"/>
          <a:sy n="40" d="100"/>
        </p:scale>
        <p:origin x="900" y="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2885086" y="-522578"/>
            <a:ext cx="3897690" cy="9667862"/>
            <a:chOff x="0" y="0"/>
            <a:chExt cx="632123" cy="1567922"/>
          </a:xfrm>
        </p:grpSpPr>
        <p:sp>
          <p:nvSpPr>
            <p:cNvPr id="3" name="Freeform 3"/>
            <p:cNvSpPr/>
            <p:nvPr/>
          </p:nvSpPr>
          <p:spPr>
            <a:xfrm>
              <a:off x="0" y="0"/>
              <a:ext cx="632123" cy="1567923"/>
            </a:xfrm>
            <a:custGeom>
              <a:avLst/>
              <a:gdLst/>
              <a:ahLst/>
              <a:cxnLst/>
              <a:rect l="l" t="t" r="r" b="b"/>
              <a:pathLst>
                <a:path w="632123" h="1567923">
                  <a:moveTo>
                    <a:pt x="210821" y="19070"/>
                  </a:moveTo>
                  <a:cubicBezTo>
                    <a:pt x="243124" y="7556"/>
                    <a:pt x="280072" y="0"/>
                    <a:pt x="316232" y="0"/>
                  </a:cubicBezTo>
                  <a:cubicBezTo>
                    <a:pt x="352393" y="0"/>
                    <a:pt x="387189" y="6476"/>
                    <a:pt x="419254" y="17990"/>
                  </a:cubicBezTo>
                  <a:cubicBezTo>
                    <a:pt x="419937" y="18350"/>
                    <a:pt x="420619" y="18350"/>
                    <a:pt x="421301" y="18710"/>
                  </a:cubicBezTo>
                  <a:cubicBezTo>
                    <a:pt x="541722" y="64765"/>
                    <a:pt x="630417" y="186379"/>
                    <a:pt x="632123" y="345275"/>
                  </a:cubicBezTo>
                  <a:lnTo>
                    <a:pt x="632123" y="1567923"/>
                  </a:lnTo>
                  <a:lnTo>
                    <a:pt x="0" y="1567923"/>
                  </a:lnTo>
                  <a:lnTo>
                    <a:pt x="0" y="346183"/>
                  </a:lnTo>
                  <a:cubicBezTo>
                    <a:pt x="1706" y="185660"/>
                    <a:pt x="89036" y="64045"/>
                    <a:pt x="210821" y="19070"/>
                  </a:cubicBezTo>
                  <a:close/>
                </a:path>
              </a:pathLst>
            </a:custGeom>
            <a:solidFill>
              <a:srgbClr val="1BA5DF">
                <a:alpha val="66667"/>
              </a:srgbClr>
            </a:solidFill>
          </p:spPr>
        </p:sp>
        <p:sp>
          <p:nvSpPr>
            <p:cNvPr id="4" name="TextBox 4"/>
            <p:cNvSpPr txBox="1"/>
            <p:nvPr/>
          </p:nvSpPr>
          <p:spPr>
            <a:xfrm>
              <a:off x="0" y="69850"/>
              <a:ext cx="632123" cy="149807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38172" y="7937584"/>
            <a:ext cx="1320716" cy="1320716"/>
          </a:xfrm>
          <a:custGeom>
            <a:avLst/>
            <a:gdLst/>
            <a:ahLst/>
            <a:cxnLst/>
            <a:rect l="l" t="t" r="r" b="b"/>
            <a:pathLst>
              <a:path w="1320716" h="1320716">
                <a:moveTo>
                  <a:pt x="0" y="0"/>
                </a:moveTo>
                <a:lnTo>
                  <a:pt x="1320716" y="0"/>
                </a:lnTo>
                <a:lnTo>
                  <a:pt x="1320716" y="1320716"/>
                </a:lnTo>
                <a:lnTo>
                  <a:pt x="0" y="13207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34460" y="-1024892"/>
            <a:ext cx="6681048" cy="4451248"/>
          </a:xfrm>
          <a:custGeom>
            <a:avLst/>
            <a:gdLst/>
            <a:ahLst/>
            <a:cxnLst/>
            <a:rect l="l" t="t" r="r" b="b"/>
            <a:pathLst>
              <a:path w="6681048" h="4451248">
                <a:moveTo>
                  <a:pt x="0" y="0"/>
                </a:moveTo>
                <a:lnTo>
                  <a:pt x="6681048" y="0"/>
                </a:lnTo>
                <a:lnTo>
                  <a:pt x="6681048" y="4451248"/>
                </a:lnTo>
                <a:lnTo>
                  <a:pt x="0" y="4451248"/>
                </a:lnTo>
                <a:lnTo>
                  <a:pt x="0" y="0"/>
                </a:lnTo>
                <a:close/>
              </a:path>
            </a:pathLst>
          </a:custGeom>
          <a:blipFill>
            <a:blip r:embed="rId4"/>
            <a:stretch>
              <a:fillRect/>
            </a:stretch>
          </a:blipFill>
        </p:spPr>
      </p:sp>
      <p:sp>
        <p:nvSpPr>
          <p:cNvPr id="7" name="Freeform 7"/>
          <p:cNvSpPr/>
          <p:nvPr/>
        </p:nvSpPr>
        <p:spPr>
          <a:xfrm>
            <a:off x="5608778" y="2239402"/>
            <a:ext cx="4116046" cy="4116046"/>
          </a:xfrm>
          <a:custGeom>
            <a:avLst/>
            <a:gdLst/>
            <a:ahLst/>
            <a:cxnLst/>
            <a:rect l="l" t="t" r="r" b="b"/>
            <a:pathLst>
              <a:path w="4116046" h="4116046">
                <a:moveTo>
                  <a:pt x="0" y="0"/>
                </a:moveTo>
                <a:lnTo>
                  <a:pt x="4116046" y="0"/>
                </a:lnTo>
                <a:lnTo>
                  <a:pt x="4116046" y="4116046"/>
                </a:lnTo>
                <a:lnTo>
                  <a:pt x="0" y="4116046"/>
                </a:lnTo>
                <a:lnTo>
                  <a:pt x="0" y="0"/>
                </a:lnTo>
                <a:close/>
              </a:path>
            </a:pathLst>
          </a:custGeom>
          <a:blipFill>
            <a:blip r:embed="rId5"/>
            <a:stretch>
              <a:fillRect/>
            </a:stretch>
          </a:blipFill>
        </p:spPr>
      </p:sp>
      <p:sp>
        <p:nvSpPr>
          <p:cNvPr id="8" name="Freeform 8"/>
          <p:cNvSpPr/>
          <p:nvPr/>
        </p:nvSpPr>
        <p:spPr>
          <a:xfrm>
            <a:off x="10906276" y="1216218"/>
            <a:ext cx="7381724" cy="7381724"/>
          </a:xfrm>
          <a:custGeom>
            <a:avLst/>
            <a:gdLst/>
            <a:ahLst/>
            <a:cxnLst/>
            <a:rect l="l" t="t" r="r" b="b"/>
            <a:pathLst>
              <a:path w="7381724" h="7381724">
                <a:moveTo>
                  <a:pt x="0" y="0"/>
                </a:moveTo>
                <a:lnTo>
                  <a:pt x="7381724" y="0"/>
                </a:lnTo>
                <a:lnTo>
                  <a:pt x="7381724" y="7381724"/>
                </a:lnTo>
                <a:lnTo>
                  <a:pt x="0" y="7381724"/>
                </a:lnTo>
                <a:lnTo>
                  <a:pt x="0" y="0"/>
                </a:lnTo>
                <a:close/>
              </a:path>
            </a:pathLst>
          </a:custGeom>
          <a:blipFill>
            <a:blip r:embed="rId6"/>
            <a:stretch>
              <a:fillRect/>
            </a:stretch>
          </a:blipFill>
        </p:spPr>
      </p:sp>
      <p:sp>
        <p:nvSpPr>
          <p:cNvPr id="9" name="TextBox 9"/>
          <p:cNvSpPr txBox="1"/>
          <p:nvPr/>
        </p:nvSpPr>
        <p:spPr>
          <a:xfrm>
            <a:off x="159897" y="2163438"/>
            <a:ext cx="7580570" cy="1932312"/>
          </a:xfrm>
          <a:prstGeom prst="rect">
            <a:avLst/>
          </a:prstGeom>
        </p:spPr>
        <p:txBody>
          <a:bodyPr lIns="0" tIns="0" rIns="0" bIns="0" rtlCol="0" anchor="t">
            <a:spAutoFit/>
          </a:bodyPr>
          <a:lstStyle/>
          <a:p>
            <a:pPr algn="l">
              <a:lnSpc>
                <a:spcPts val="14979"/>
              </a:lnSpc>
            </a:pPr>
            <a:r>
              <a:rPr lang="en-US" sz="10699" b="1">
                <a:solidFill>
                  <a:srgbClr val="FFFFFF"/>
                </a:solidFill>
                <a:latin typeface="Poppins Bold"/>
                <a:ea typeface="Poppins Bold"/>
                <a:cs typeface="Poppins Bold"/>
                <a:sym typeface="Poppins Bold"/>
              </a:rPr>
              <a:t>SEARCH</a:t>
            </a:r>
          </a:p>
        </p:txBody>
      </p:sp>
      <p:sp>
        <p:nvSpPr>
          <p:cNvPr id="10" name="TextBox 10"/>
          <p:cNvSpPr txBox="1"/>
          <p:nvPr/>
        </p:nvSpPr>
        <p:spPr>
          <a:xfrm>
            <a:off x="470995" y="3663380"/>
            <a:ext cx="4909183" cy="1499170"/>
          </a:xfrm>
          <a:prstGeom prst="rect">
            <a:avLst/>
          </a:prstGeom>
        </p:spPr>
        <p:txBody>
          <a:bodyPr lIns="0" tIns="0" rIns="0" bIns="0" rtlCol="0" anchor="t">
            <a:spAutoFit/>
          </a:bodyPr>
          <a:lstStyle/>
          <a:p>
            <a:pPr algn="l">
              <a:lnSpc>
                <a:spcPts val="11671"/>
              </a:lnSpc>
            </a:pPr>
            <a:r>
              <a:rPr lang="en-US" sz="8337">
                <a:solidFill>
                  <a:srgbClr val="FFFFFF"/>
                </a:solidFill>
                <a:latin typeface="Poppins"/>
                <a:ea typeface="Poppins"/>
                <a:cs typeface="Poppins"/>
                <a:sym typeface="Poppins"/>
              </a:rPr>
              <a:t>ANALYSIS</a:t>
            </a:r>
          </a:p>
        </p:txBody>
      </p:sp>
      <p:sp>
        <p:nvSpPr>
          <p:cNvPr id="11" name="TextBox 11"/>
          <p:cNvSpPr txBox="1"/>
          <p:nvPr/>
        </p:nvSpPr>
        <p:spPr>
          <a:xfrm>
            <a:off x="1028700" y="6745362"/>
            <a:ext cx="7756824" cy="1953895"/>
          </a:xfrm>
          <a:prstGeom prst="rect">
            <a:avLst/>
          </a:prstGeom>
        </p:spPr>
        <p:txBody>
          <a:bodyPr lIns="0" tIns="0" rIns="0" bIns="0" rtlCol="0" anchor="t">
            <a:spAutoFit/>
          </a:bodyPr>
          <a:lstStyle/>
          <a:p>
            <a:pPr algn="just">
              <a:lnSpc>
                <a:spcPts val="3079"/>
              </a:lnSpc>
            </a:pPr>
            <a:r>
              <a:rPr lang="en-US" sz="2199">
                <a:solidFill>
                  <a:srgbClr val="272727"/>
                </a:solidFill>
                <a:latin typeface="Poppins"/>
                <a:ea typeface="Poppins"/>
                <a:cs typeface="Poppins"/>
                <a:sym typeface="Poppins"/>
              </a:rPr>
              <a:t>Analyze and visualize Google search trends. It presents keyword performance and search insights in a clean and easy-to-understand format, helping transform raw data into meaningful insights for better decision-making.</a:t>
            </a:r>
          </a:p>
        </p:txBody>
      </p:sp>
      <p:sp>
        <p:nvSpPr>
          <p:cNvPr id="12" name="TextBox 12"/>
          <p:cNvSpPr txBox="1"/>
          <p:nvPr/>
        </p:nvSpPr>
        <p:spPr>
          <a:xfrm>
            <a:off x="1028700" y="8967735"/>
            <a:ext cx="5417888" cy="424815"/>
          </a:xfrm>
          <a:prstGeom prst="rect">
            <a:avLst/>
          </a:prstGeom>
        </p:spPr>
        <p:txBody>
          <a:bodyPr lIns="0" tIns="0" rIns="0" bIns="0" rtlCol="0" anchor="t">
            <a:spAutoFit/>
          </a:bodyPr>
          <a:lstStyle/>
          <a:p>
            <a:pPr algn="just">
              <a:lnSpc>
                <a:spcPts val="3359"/>
              </a:lnSpc>
            </a:pPr>
            <a:r>
              <a:rPr lang="en-US" sz="2399">
                <a:solidFill>
                  <a:srgbClr val="0077CD"/>
                </a:solidFill>
                <a:latin typeface="Poppins"/>
                <a:ea typeface="Poppins"/>
                <a:cs typeface="Poppins"/>
                <a:sym typeface="Poppins"/>
              </a:rPr>
              <a:t>www.google.com</a:t>
            </a:r>
          </a:p>
        </p:txBody>
      </p:sp>
      <p:sp>
        <p:nvSpPr>
          <p:cNvPr id="13" name="TextBox 13"/>
          <p:cNvSpPr txBox="1"/>
          <p:nvPr/>
        </p:nvSpPr>
        <p:spPr>
          <a:xfrm>
            <a:off x="-285750" y="9767988"/>
            <a:ext cx="5608778" cy="442770"/>
          </a:xfrm>
          <a:prstGeom prst="rect">
            <a:avLst/>
          </a:prstGeom>
        </p:spPr>
        <p:txBody>
          <a:bodyPr lIns="0" tIns="0" rIns="0" bIns="0" rtlCol="0" anchor="t">
            <a:spAutoFit/>
          </a:bodyPr>
          <a:lstStyle/>
          <a:p>
            <a:pPr algn="ctr">
              <a:lnSpc>
                <a:spcPts val="3420"/>
              </a:lnSpc>
              <a:spcBef>
                <a:spcPct val="0"/>
              </a:spcBef>
            </a:pPr>
            <a:r>
              <a:rPr lang="en-US" sz="2443">
                <a:solidFill>
                  <a:srgbClr val="000000"/>
                </a:solidFill>
                <a:latin typeface="Poppins"/>
                <a:ea typeface="Poppins"/>
                <a:cs typeface="Poppins"/>
                <a:sym typeface="Poppins"/>
              </a:rPr>
              <a:t>Project By - Prabhat Prajapati</a:t>
            </a:r>
          </a:p>
        </p:txBody>
      </p:sp>
      <p:sp>
        <p:nvSpPr>
          <p:cNvPr id="14" name="TextBox 14"/>
          <p:cNvSpPr txBox="1"/>
          <p:nvPr/>
        </p:nvSpPr>
        <p:spPr>
          <a:xfrm>
            <a:off x="838200" y="4943475"/>
            <a:ext cx="3995731" cy="1234180"/>
          </a:xfrm>
          <a:prstGeom prst="rect">
            <a:avLst/>
          </a:prstGeom>
        </p:spPr>
        <p:txBody>
          <a:bodyPr lIns="0" tIns="0" rIns="0" bIns="0" rtlCol="0" anchor="t">
            <a:spAutoFit/>
          </a:bodyPr>
          <a:lstStyle/>
          <a:p>
            <a:pPr algn="l">
              <a:lnSpc>
                <a:spcPts val="9500"/>
              </a:lnSpc>
            </a:pPr>
            <a:r>
              <a:rPr lang="en-US" sz="6785">
                <a:solidFill>
                  <a:srgbClr val="FFFFFF"/>
                </a:solidFill>
                <a:latin typeface="Poppins"/>
                <a:ea typeface="Poppins"/>
                <a:cs typeface="Poppins"/>
                <a:sym typeface="Poppins"/>
              </a:rPr>
              <a:t>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2456093" y="-4154447"/>
            <a:ext cx="3547235" cy="8116579"/>
            <a:chOff x="0" y="0"/>
            <a:chExt cx="660400" cy="1511089"/>
          </a:xfrm>
        </p:grpSpPr>
        <p:sp>
          <p:nvSpPr>
            <p:cNvPr id="3" name="Freeform 3"/>
            <p:cNvSpPr/>
            <p:nvPr/>
          </p:nvSpPr>
          <p:spPr>
            <a:xfrm>
              <a:off x="0" y="0"/>
              <a:ext cx="660400" cy="1511089"/>
            </a:xfrm>
            <a:custGeom>
              <a:avLst/>
              <a:gdLst/>
              <a:ahLst/>
              <a:cxnLst/>
              <a:rect l="l" t="t" r="r" b="b"/>
              <a:pathLst>
                <a:path w="660400" h="1511089">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44013"/>
                  </a:cubicBezTo>
                  <a:lnTo>
                    <a:pt x="660400" y="1511089"/>
                  </a:lnTo>
                  <a:lnTo>
                    <a:pt x="0" y="1511089"/>
                  </a:lnTo>
                  <a:lnTo>
                    <a:pt x="0" y="344879"/>
                  </a:lnTo>
                  <a:cubicBezTo>
                    <a:pt x="1782" y="185660"/>
                    <a:pt x="93019" y="64045"/>
                    <a:pt x="220252" y="19070"/>
                  </a:cubicBezTo>
                  <a:close/>
                </a:path>
              </a:pathLst>
            </a:custGeom>
            <a:gradFill rotWithShape="1">
              <a:gsLst>
                <a:gs pos="0">
                  <a:srgbClr val="2A68E1">
                    <a:alpha val="100000"/>
                  </a:srgbClr>
                </a:gs>
                <a:gs pos="100000">
                  <a:srgbClr val="00C2CB">
                    <a:alpha val="100000"/>
                  </a:srgbClr>
                </a:gs>
              </a:gsLst>
              <a:path path="circle">
                <a:fillToRect r="100000" b="100000"/>
              </a:path>
              <a:tileRect l="-100000" t="-100000"/>
            </a:gradFill>
            <a:ln cap="sq">
              <a:noFill/>
              <a:prstDash val="solid"/>
              <a:miter/>
            </a:ln>
          </p:spPr>
        </p:sp>
        <p:sp>
          <p:nvSpPr>
            <p:cNvPr id="4" name="TextBox 4"/>
            <p:cNvSpPr txBox="1"/>
            <p:nvPr/>
          </p:nvSpPr>
          <p:spPr>
            <a:xfrm>
              <a:off x="0" y="69850"/>
              <a:ext cx="660400" cy="144123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9315799" y="600889"/>
            <a:ext cx="855622" cy="855622"/>
          </a:xfrm>
          <a:custGeom>
            <a:avLst/>
            <a:gdLst/>
            <a:ahLst/>
            <a:cxnLst/>
            <a:rect l="l" t="t" r="r" b="b"/>
            <a:pathLst>
              <a:path w="855622" h="855622">
                <a:moveTo>
                  <a:pt x="0" y="0"/>
                </a:moveTo>
                <a:lnTo>
                  <a:pt x="855622" y="0"/>
                </a:lnTo>
                <a:lnTo>
                  <a:pt x="855622" y="855622"/>
                </a:lnTo>
                <a:lnTo>
                  <a:pt x="0" y="8556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14300" y="-435156"/>
            <a:ext cx="2939351" cy="1958342"/>
          </a:xfrm>
          <a:custGeom>
            <a:avLst/>
            <a:gdLst/>
            <a:ahLst/>
            <a:cxnLst/>
            <a:rect l="l" t="t" r="r" b="b"/>
            <a:pathLst>
              <a:path w="2939351" h="1958342">
                <a:moveTo>
                  <a:pt x="0" y="0"/>
                </a:moveTo>
                <a:lnTo>
                  <a:pt x="2939351" y="0"/>
                </a:lnTo>
                <a:lnTo>
                  <a:pt x="2939351" y="1958342"/>
                </a:lnTo>
                <a:lnTo>
                  <a:pt x="0" y="1958342"/>
                </a:lnTo>
                <a:lnTo>
                  <a:pt x="0" y="0"/>
                </a:lnTo>
                <a:close/>
              </a:path>
            </a:pathLst>
          </a:custGeom>
          <a:blipFill>
            <a:blip r:embed="rId4"/>
            <a:stretch>
              <a:fillRect/>
            </a:stretch>
          </a:blipFill>
        </p:spPr>
      </p:sp>
      <p:sp>
        <p:nvSpPr>
          <p:cNvPr id="7" name="TextBox 7"/>
          <p:cNvSpPr txBox="1"/>
          <p:nvPr/>
        </p:nvSpPr>
        <p:spPr>
          <a:xfrm>
            <a:off x="914400" y="3318250"/>
            <a:ext cx="13062883" cy="5940050"/>
          </a:xfrm>
          <a:prstGeom prst="rect">
            <a:avLst/>
          </a:prstGeom>
        </p:spPr>
        <p:txBody>
          <a:bodyPr lIns="0" tIns="0" rIns="0" bIns="0" rtlCol="0" anchor="t">
            <a:spAutoFit/>
          </a:bodyPr>
          <a:lstStyle/>
          <a:p>
            <a:pPr algn="just">
              <a:lnSpc>
                <a:spcPts val="4301"/>
              </a:lnSpc>
            </a:pPr>
            <a:r>
              <a:rPr lang="en-US" sz="3072">
                <a:solidFill>
                  <a:srgbClr val="272727"/>
                </a:solidFill>
                <a:latin typeface="Poppins"/>
                <a:ea typeface="Poppins"/>
                <a:cs typeface="Poppins"/>
                <a:sym typeface="Poppins"/>
              </a:rPr>
              <a:t>Google handles more than 190,000 searches every second, which equals:</a:t>
            </a:r>
          </a:p>
          <a:p>
            <a:pPr algn="just">
              <a:lnSpc>
                <a:spcPts val="4301"/>
              </a:lnSpc>
            </a:pPr>
            <a:r>
              <a:rPr lang="en-US" sz="3072">
                <a:solidFill>
                  <a:srgbClr val="272727"/>
                </a:solidFill>
                <a:latin typeface="Poppins"/>
                <a:ea typeface="Poppins"/>
                <a:cs typeface="Poppins"/>
                <a:sym typeface="Poppins"/>
              </a:rPr>
              <a:t>•~11.4 million searches per minute </a:t>
            </a:r>
          </a:p>
          <a:p>
            <a:pPr algn="just">
              <a:lnSpc>
                <a:spcPts val="4301"/>
              </a:lnSpc>
            </a:pPr>
            <a:r>
              <a:rPr lang="en-US" sz="3072">
                <a:solidFill>
                  <a:srgbClr val="272727"/>
                </a:solidFill>
                <a:latin typeface="Poppins"/>
                <a:ea typeface="Poppins"/>
                <a:cs typeface="Poppins"/>
                <a:sym typeface="Poppins"/>
              </a:rPr>
              <a:t>•~16.4 billion searches per day </a:t>
            </a:r>
          </a:p>
          <a:p>
            <a:pPr algn="just">
              <a:lnSpc>
                <a:spcPts val="4301"/>
              </a:lnSpc>
            </a:pPr>
            <a:r>
              <a:rPr lang="en-US" sz="3072">
                <a:solidFill>
                  <a:srgbClr val="272727"/>
                </a:solidFill>
                <a:latin typeface="Poppins"/>
                <a:ea typeface="Poppins"/>
                <a:cs typeface="Poppins"/>
                <a:sym typeface="Poppins"/>
              </a:rPr>
              <a:t>•~5.9 trillion searches per year </a:t>
            </a:r>
          </a:p>
          <a:p>
            <a:pPr algn="just">
              <a:lnSpc>
                <a:spcPts val="4301"/>
              </a:lnSpc>
            </a:pPr>
            <a:r>
              <a:rPr lang="en-US" sz="3072">
                <a:solidFill>
                  <a:srgbClr val="272727"/>
                </a:solidFill>
                <a:latin typeface="Poppins"/>
                <a:ea typeface="Poppins"/>
                <a:cs typeface="Poppins"/>
                <a:sym typeface="Poppins"/>
              </a:rPr>
              <a:t>Google Trends data represents a very </a:t>
            </a:r>
          </a:p>
          <a:p>
            <a:pPr algn="just">
              <a:lnSpc>
                <a:spcPts val="4301"/>
              </a:lnSpc>
            </a:pPr>
            <a:r>
              <a:rPr lang="en-US" sz="3072">
                <a:solidFill>
                  <a:srgbClr val="272727"/>
                </a:solidFill>
                <a:latin typeface="Poppins"/>
                <a:ea typeface="Poppins"/>
                <a:cs typeface="Poppins"/>
                <a:sym typeface="Poppins"/>
              </a:rPr>
              <a:t>reliable proxy for public interest, making it ideal for: </a:t>
            </a:r>
          </a:p>
          <a:p>
            <a:pPr algn="just">
              <a:lnSpc>
                <a:spcPts val="4301"/>
              </a:lnSpc>
            </a:pPr>
            <a:r>
              <a:rPr lang="en-US" sz="3072">
                <a:solidFill>
                  <a:srgbClr val="272727"/>
                </a:solidFill>
                <a:latin typeface="Poppins"/>
                <a:ea typeface="Poppins"/>
                <a:cs typeface="Poppins"/>
                <a:sym typeface="Poppins"/>
              </a:rPr>
              <a:t>•Market research </a:t>
            </a:r>
          </a:p>
          <a:p>
            <a:pPr algn="just">
              <a:lnSpc>
                <a:spcPts val="4301"/>
              </a:lnSpc>
            </a:pPr>
            <a:r>
              <a:rPr lang="en-US" sz="3072">
                <a:solidFill>
                  <a:srgbClr val="272727"/>
                </a:solidFill>
                <a:latin typeface="Poppins"/>
                <a:ea typeface="Poppins"/>
                <a:cs typeface="Poppins"/>
                <a:sym typeface="Poppins"/>
              </a:rPr>
              <a:t>•Political forecasting </a:t>
            </a:r>
          </a:p>
          <a:p>
            <a:pPr algn="just">
              <a:lnSpc>
                <a:spcPts val="4301"/>
              </a:lnSpc>
            </a:pPr>
            <a:r>
              <a:rPr lang="en-US" sz="3072">
                <a:solidFill>
                  <a:srgbClr val="272727"/>
                </a:solidFill>
                <a:latin typeface="Poppins"/>
                <a:ea typeface="Poppins"/>
                <a:cs typeface="Poppins"/>
                <a:sym typeface="Poppins"/>
              </a:rPr>
              <a:t>•News and media analysis </a:t>
            </a:r>
          </a:p>
          <a:p>
            <a:pPr algn="just">
              <a:lnSpc>
                <a:spcPts val="4301"/>
              </a:lnSpc>
            </a:pPr>
            <a:r>
              <a:rPr lang="en-US" sz="3072">
                <a:solidFill>
                  <a:srgbClr val="272727"/>
                </a:solidFill>
                <a:latin typeface="Poppins"/>
                <a:ea typeface="Poppins"/>
                <a:cs typeface="Poppins"/>
                <a:sym typeface="Poppins"/>
              </a:rPr>
              <a:t>•Product demand analysis</a:t>
            </a:r>
          </a:p>
        </p:txBody>
      </p:sp>
      <p:sp>
        <p:nvSpPr>
          <p:cNvPr id="8" name="Freeform 8"/>
          <p:cNvSpPr/>
          <p:nvPr/>
        </p:nvSpPr>
        <p:spPr>
          <a:xfrm>
            <a:off x="12792262" y="4035252"/>
            <a:ext cx="5094727" cy="5972775"/>
          </a:xfrm>
          <a:custGeom>
            <a:avLst/>
            <a:gdLst/>
            <a:ahLst/>
            <a:cxnLst/>
            <a:rect l="l" t="t" r="r" b="b"/>
            <a:pathLst>
              <a:path w="5094727" h="5972775">
                <a:moveTo>
                  <a:pt x="0" y="0"/>
                </a:moveTo>
                <a:lnTo>
                  <a:pt x="5094728" y="0"/>
                </a:lnTo>
                <a:lnTo>
                  <a:pt x="5094728" y="5972775"/>
                </a:lnTo>
                <a:lnTo>
                  <a:pt x="0" y="5972775"/>
                </a:lnTo>
                <a:lnTo>
                  <a:pt x="0" y="0"/>
                </a:lnTo>
                <a:close/>
              </a:path>
            </a:pathLst>
          </a:custGeom>
          <a:blipFill>
            <a:blip r:embed="rId5"/>
            <a:stretch>
              <a:fillRect l="-39121" r="-16930"/>
            </a:stretch>
          </a:blipFill>
        </p:spPr>
      </p:sp>
      <p:sp>
        <p:nvSpPr>
          <p:cNvPr id="9" name="TextBox 9"/>
          <p:cNvSpPr txBox="1"/>
          <p:nvPr/>
        </p:nvSpPr>
        <p:spPr>
          <a:xfrm>
            <a:off x="10935906" y="290289"/>
            <a:ext cx="7820407" cy="901700"/>
          </a:xfrm>
          <a:prstGeom prst="rect">
            <a:avLst/>
          </a:prstGeom>
        </p:spPr>
        <p:txBody>
          <a:bodyPr lIns="0" tIns="0" rIns="0" bIns="0" rtlCol="0" anchor="t">
            <a:spAutoFit/>
          </a:bodyPr>
          <a:lstStyle/>
          <a:p>
            <a:pPr algn="l">
              <a:lnSpc>
                <a:spcPts val="7000"/>
              </a:lnSpc>
            </a:pPr>
            <a:r>
              <a:rPr lang="en-US" sz="5000" b="1">
                <a:solidFill>
                  <a:srgbClr val="FFFFFF"/>
                </a:solidFill>
                <a:latin typeface="Poppins Bold"/>
                <a:ea typeface="Poppins Bold"/>
                <a:cs typeface="Poppins Bold"/>
                <a:sym typeface="Poppins Bold"/>
              </a:rPr>
              <a:t>OVERVIEW OF GOOGLE</a:t>
            </a:r>
          </a:p>
        </p:txBody>
      </p:sp>
      <p:sp>
        <p:nvSpPr>
          <p:cNvPr id="10" name="TextBox 10"/>
          <p:cNvSpPr txBox="1"/>
          <p:nvPr/>
        </p:nvSpPr>
        <p:spPr>
          <a:xfrm>
            <a:off x="914400" y="2022125"/>
            <a:ext cx="11250173" cy="1116354"/>
          </a:xfrm>
          <a:prstGeom prst="rect">
            <a:avLst/>
          </a:prstGeom>
        </p:spPr>
        <p:txBody>
          <a:bodyPr lIns="0" tIns="0" rIns="0" bIns="0" rtlCol="0" anchor="t">
            <a:spAutoFit/>
          </a:bodyPr>
          <a:lstStyle/>
          <a:p>
            <a:pPr algn="just">
              <a:lnSpc>
                <a:spcPts val="4353"/>
              </a:lnSpc>
            </a:pPr>
            <a:r>
              <a:rPr lang="en-US" sz="3109">
                <a:solidFill>
                  <a:srgbClr val="272727"/>
                </a:solidFill>
                <a:latin typeface="Poppins"/>
                <a:ea typeface="Poppins"/>
                <a:cs typeface="Poppins"/>
                <a:sym typeface="Poppins"/>
              </a:rPr>
              <a:t>As of recent estimates (2025–2026), Google processes over 16.4 billion searches per day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5810744" y="-7498265"/>
            <a:ext cx="2871829" cy="14493317"/>
            <a:chOff x="0" y="0"/>
            <a:chExt cx="660400" cy="3332854"/>
          </a:xfrm>
        </p:grpSpPr>
        <p:sp>
          <p:nvSpPr>
            <p:cNvPr id="3" name="Freeform 3"/>
            <p:cNvSpPr/>
            <p:nvPr/>
          </p:nvSpPr>
          <p:spPr>
            <a:xfrm>
              <a:off x="0" y="0"/>
              <a:ext cx="660400" cy="3332854"/>
            </a:xfrm>
            <a:custGeom>
              <a:avLst/>
              <a:gdLst/>
              <a:ahLst/>
              <a:cxnLst/>
              <a:rect l="l" t="t" r="r" b="b"/>
              <a:pathLst>
                <a:path w="660400" h="3332854">
                  <a:moveTo>
                    <a:pt x="220252" y="3313785"/>
                  </a:moveTo>
                  <a:cubicBezTo>
                    <a:pt x="254109" y="3325299"/>
                    <a:pt x="292600" y="3332854"/>
                    <a:pt x="330378" y="3332854"/>
                  </a:cubicBezTo>
                  <a:cubicBezTo>
                    <a:pt x="368157" y="3332854"/>
                    <a:pt x="404509" y="3326377"/>
                    <a:pt x="438009" y="3314864"/>
                  </a:cubicBezTo>
                  <a:cubicBezTo>
                    <a:pt x="438723" y="3314504"/>
                    <a:pt x="439435" y="3314504"/>
                    <a:pt x="440148" y="3314145"/>
                  </a:cubicBezTo>
                  <a:cubicBezTo>
                    <a:pt x="565955" y="3268089"/>
                    <a:pt x="658618" y="3146475"/>
                    <a:pt x="660400" y="2948375"/>
                  </a:cubicBezTo>
                  <a:lnTo>
                    <a:pt x="660400" y="0"/>
                  </a:lnTo>
                  <a:lnTo>
                    <a:pt x="0" y="0"/>
                  </a:lnTo>
                  <a:lnTo>
                    <a:pt x="0" y="2946187"/>
                  </a:lnTo>
                  <a:cubicBezTo>
                    <a:pt x="1782" y="3147194"/>
                    <a:pt x="93019" y="3268809"/>
                    <a:pt x="220252" y="3313785"/>
                  </a:cubicBezTo>
                  <a:close/>
                </a:path>
              </a:pathLst>
            </a:custGeom>
            <a:gradFill rotWithShape="1">
              <a:gsLst>
                <a:gs pos="0">
                  <a:srgbClr val="00C2CB">
                    <a:alpha val="100000"/>
                  </a:srgbClr>
                </a:gs>
                <a:gs pos="50000">
                  <a:srgbClr val="0064CD">
                    <a:alpha val="100000"/>
                  </a:srgbClr>
                </a:gs>
                <a:gs pos="100000">
                  <a:srgbClr val="4689F6">
                    <a:alpha val="100000"/>
                  </a:srgbClr>
                </a:gs>
              </a:gsLst>
              <a:path path="circle">
                <a:fillToRect r="100000" b="100000"/>
              </a:path>
              <a:tileRect l="-100000" t="-100000"/>
            </a:gradFill>
            <a:ln cap="sq">
              <a:noFill/>
              <a:prstDash val="solid"/>
              <a:miter/>
            </a:ln>
          </p:spPr>
        </p:sp>
        <p:sp>
          <p:nvSpPr>
            <p:cNvPr id="4" name="TextBox 4"/>
            <p:cNvSpPr txBox="1"/>
            <p:nvPr/>
          </p:nvSpPr>
          <p:spPr>
            <a:xfrm>
              <a:off x="0" y="-57150"/>
              <a:ext cx="660400" cy="32630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879933" y="122950"/>
            <a:ext cx="728050" cy="728050"/>
          </a:xfrm>
          <a:custGeom>
            <a:avLst/>
            <a:gdLst/>
            <a:ahLst/>
            <a:cxnLst/>
            <a:rect l="l" t="t" r="r" b="b"/>
            <a:pathLst>
              <a:path w="728050" h="728050">
                <a:moveTo>
                  <a:pt x="0" y="0"/>
                </a:moveTo>
                <a:lnTo>
                  <a:pt x="728050" y="0"/>
                </a:lnTo>
                <a:lnTo>
                  <a:pt x="728050" y="728050"/>
                </a:lnTo>
                <a:lnTo>
                  <a:pt x="0" y="7280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rot="5400000">
            <a:off x="11019134" y="7898038"/>
            <a:ext cx="796952" cy="3638092"/>
            <a:chOff x="0" y="0"/>
            <a:chExt cx="660400" cy="3014730"/>
          </a:xfrm>
        </p:grpSpPr>
        <p:sp>
          <p:nvSpPr>
            <p:cNvPr id="7" name="Freeform 7"/>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24C6F1"/>
            </a:solidFill>
            <a:ln w="38100" cap="sq">
              <a:solidFill>
                <a:srgbClr val="FFFFFF"/>
              </a:solidFill>
              <a:prstDash val="solid"/>
              <a:miter/>
            </a:ln>
          </p:spPr>
        </p:sp>
        <p:sp>
          <p:nvSpPr>
            <p:cNvPr id="8" name="TextBox 8"/>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5400000">
            <a:off x="13243896" y="9327260"/>
            <a:ext cx="917568" cy="779648"/>
            <a:chOff x="0" y="0"/>
            <a:chExt cx="1054881" cy="896321"/>
          </a:xfrm>
        </p:grpSpPr>
        <p:sp>
          <p:nvSpPr>
            <p:cNvPr id="10" name="Freeform 10"/>
            <p:cNvSpPr/>
            <p:nvPr/>
          </p:nvSpPr>
          <p:spPr>
            <a:xfrm>
              <a:off x="65026" y="86848"/>
              <a:ext cx="924828" cy="809473"/>
            </a:xfrm>
            <a:custGeom>
              <a:avLst/>
              <a:gdLst/>
              <a:ahLst/>
              <a:cxnLst/>
              <a:rect l="l" t="t" r="r" b="b"/>
              <a:pathLst>
                <a:path w="924828" h="809473">
                  <a:moveTo>
                    <a:pt x="539438" y="44045"/>
                  </a:moveTo>
                  <a:lnTo>
                    <a:pt x="912831" y="678580"/>
                  </a:lnTo>
                  <a:cubicBezTo>
                    <a:pt x="928632" y="705432"/>
                    <a:pt x="928838" y="738691"/>
                    <a:pt x="913372" y="765737"/>
                  </a:cubicBezTo>
                  <a:cubicBezTo>
                    <a:pt x="897906" y="792783"/>
                    <a:pt x="869137" y="809473"/>
                    <a:pt x="837981" y="809473"/>
                  </a:cubicBezTo>
                  <a:lnTo>
                    <a:pt x="86848" y="809473"/>
                  </a:lnTo>
                  <a:cubicBezTo>
                    <a:pt x="55692" y="809473"/>
                    <a:pt x="26923" y="792783"/>
                    <a:pt x="11456" y="765737"/>
                  </a:cubicBezTo>
                  <a:cubicBezTo>
                    <a:pt x="-4010" y="738691"/>
                    <a:pt x="-3803" y="705432"/>
                    <a:pt x="11998" y="678580"/>
                  </a:cubicBezTo>
                  <a:lnTo>
                    <a:pt x="385390" y="44045"/>
                  </a:lnTo>
                  <a:cubicBezTo>
                    <a:pt x="401449" y="16755"/>
                    <a:pt x="430750" y="0"/>
                    <a:pt x="462414" y="0"/>
                  </a:cubicBezTo>
                  <a:cubicBezTo>
                    <a:pt x="494079" y="0"/>
                    <a:pt x="523379" y="16755"/>
                    <a:pt x="539438" y="44045"/>
                  </a:cubicBezTo>
                  <a:close/>
                </a:path>
              </a:pathLst>
            </a:custGeom>
            <a:solidFill>
              <a:srgbClr val="24C6F1"/>
            </a:solidFill>
            <a:ln w="38100" cap="sq">
              <a:solidFill>
                <a:srgbClr val="F6F6F6"/>
              </a:solidFill>
              <a:prstDash val="solid"/>
              <a:miter/>
            </a:ln>
          </p:spPr>
        </p:sp>
        <p:sp>
          <p:nvSpPr>
            <p:cNvPr id="11" name="TextBox 11"/>
            <p:cNvSpPr txBox="1"/>
            <p:nvPr/>
          </p:nvSpPr>
          <p:spPr>
            <a:xfrm>
              <a:off x="164825" y="358999"/>
              <a:ext cx="725230" cy="473299"/>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5400000">
            <a:off x="8031365" y="7898038"/>
            <a:ext cx="796952" cy="3638092"/>
            <a:chOff x="0" y="0"/>
            <a:chExt cx="660400" cy="3014730"/>
          </a:xfrm>
        </p:grpSpPr>
        <p:sp>
          <p:nvSpPr>
            <p:cNvPr id="13" name="Freeform 13"/>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15B1DB"/>
            </a:solidFill>
            <a:ln w="38100" cap="sq">
              <a:solidFill>
                <a:srgbClr val="FFFFFF"/>
              </a:solidFill>
              <a:prstDash val="solid"/>
              <a:miter/>
            </a:ln>
          </p:spPr>
        </p:sp>
        <p:sp>
          <p:nvSpPr>
            <p:cNvPr id="14" name="TextBox 14"/>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rot="5400000">
            <a:off x="4840044" y="7898038"/>
            <a:ext cx="796952" cy="3638092"/>
            <a:chOff x="0" y="0"/>
            <a:chExt cx="660400" cy="3014730"/>
          </a:xfrm>
        </p:grpSpPr>
        <p:sp>
          <p:nvSpPr>
            <p:cNvPr id="16" name="Freeform 16"/>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77CD"/>
            </a:solidFill>
            <a:ln w="38100" cap="sq">
              <a:solidFill>
                <a:srgbClr val="FFFFFF"/>
              </a:solidFill>
              <a:prstDash val="solid"/>
              <a:miter/>
            </a:ln>
          </p:spPr>
        </p:sp>
        <p:sp>
          <p:nvSpPr>
            <p:cNvPr id="17" name="TextBox 17"/>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rot="5400000">
            <a:off x="1735111" y="7898038"/>
            <a:ext cx="796952" cy="3638092"/>
            <a:chOff x="0" y="0"/>
            <a:chExt cx="660400" cy="3014730"/>
          </a:xfrm>
        </p:grpSpPr>
        <p:sp>
          <p:nvSpPr>
            <p:cNvPr id="19" name="Freeform 19"/>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64CD"/>
            </a:solidFill>
            <a:ln w="38100" cap="sq">
              <a:solidFill>
                <a:srgbClr val="FFFFFF"/>
              </a:solidFill>
              <a:prstDash val="solid"/>
              <a:miter/>
            </a:ln>
          </p:spPr>
        </p:sp>
        <p:sp>
          <p:nvSpPr>
            <p:cNvPr id="20" name="TextBox 20"/>
            <p:cNvSpPr txBox="1"/>
            <p:nvPr/>
          </p:nvSpPr>
          <p:spPr>
            <a:xfrm>
              <a:off x="0" y="69850"/>
              <a:ext cx="660400" cy="294488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83537" y="20814"/>
            <a:ext cx="14672495" cy="892175"/>
          </a:xfrm>
          <a:prstGeom prst="rect">
            <a:avLst/>
          </a:prstGeom>
        </p:spPr>
        <p:txBody>
          <a:bodyPr lIns="0" tIns="0" rIns="0" bIns="0" rtlCol="0" anchor="t">
            <a:spAutoFit/>
          </a:bodyPr>
          <a:lstStyle/>
          <a:p>
            <a:pPr algn="l">
              <a:lnSpc>
                <a:spcPts val="6999"/>
              </a:lnSpc>
            </a:pPr>
            <a:r>
              <a:rPr lang="en-US" sz="4999" b="1">
                <a:solidFill>
                  <a:srgbClr val="FFFFFF"/>
                </a:solidFill>
                <a:latin typeface="Poppins Bold"/>
                <a:ea typeface="Poppins Bold"/>
                <a:cs typeface="Poppins Bold"/>
                <a:sym typeface="Poppins Bold"/>
              </a:rPr>
              <a:t>CREATING QUESTIONS TO SOLVE PROBLEM</a:t>
            </a:r>
          </a:p>
        </p:txBody>
      </p:sp>
      <p:sp>
        <p:nvSpPr>
          <p:cNvPr id="22" name="TextBox 22"/>
          <p:cNvSpPr txBox="1"/>
          <p:nvPr/>
        </p:nvSpPr>
        <p:spPr>
          <a:xfrm>
            <a:off x="509660" y="2983324"/>
            <a:ext cx="16697179" cy="2977327"/>
          </a:xfrm>
          <a:prstGeom prst="rect">
            <a:avLst/>
          </a:prstGeom>
        </p:spPr>
        <p:txBody>
          <a:bodyPr lIns="0" tIns="0" rIns="0" bIns="0" rtlCol="0" anchor="t">
            <a:spAutoFit/>
          </a:bodyPr>
          <a:lstStyle/>
          <a:p>
            <a:pPr marL="0" lvl="0" indent="0" algn="just">
              <a:lnSpc>
                <a:spcPts val="4725"/>
              </a:lnSpc>
            </a:pPr>
            <a:r>
              <a:rPr lang="en-US" sz="2473">
                <a:solidFill>
                  <a:srgbClr val="272727"/>
                </a:solidFill>
                <a:latin typeface="Poppins"/>
                <a:ea typeface="Poppins"/>
                <a:cs typeface="Poppins"/>
                <a:sym typeface="Poppins"/>
              </a:rPr>
              <a:t>1) First, write a c</a:t>
            </a:r>
            <a:r>
              <a:rPr lang="en-US" sz="2473" u="none" strike="noStrike">
                <a:solidFill>
                  <a:srgbClr val="272727"/>
                </a:solidFill>
                <a:latin typeface="Poppins"/>
                <a:ea typeface="Poppins"/>
                <a:cs typeface="Poppins"/>
                <a:sym typeface="Poppins"/>
              </a:rPr>
              <a:t>ode where, by changing just the keyword, we can search for multiple things. </a:t>
            </a:r>
          </a:p>
          <a:p>
            <a:pPr marL="0" lvl="0" indent="0" algn="just">
              <a:lnSpc>
                <a:spcPts val="4725"/>
              </a:lnSpc>
            </a:pPr>
            <a:r>
              <a:rPr lang="en-US" sz="2473" u="none" strike="noStrike">
                <a:solidFill>
                  <a:srgbClr val="272727"/>
                </a:solidFill>
                <a:latin typeface="Poppins"/>
                <a:ea typeface="Poppins"/>
                <a:cs typeface="Poppins"/>
                <a:sym typeface="Poppins"/>
              </a:rPr>
              <a:t>2) Top 15 countries where the keywords are searched the most, and also create visual representation of it.</a:t>
            </a:r>
          </a:p>
          <a:p>
            <a:pPr marL="0" lvl="0" indent="0" algn="just">
              <a:lnSpc>
                <a:spcPts val="4725"/>
              </a:lnSpc>
            </a:pPr>
            <a:r>
              <a:rPr lang="en-US" sz="2473" u="none" strike="noStrike">
                <a:solidFill>
                  <a:srgbClr val="272727"/>
                </a:solidFill>
                <a:latin typeface="Poppins"/>
                <a:ea typeface="Poppins"/>
                <a:cs typeface="Poppins"/>
                <a:sym typeface="Poppins"/>
              </a:rPr>
              <a:t>3) A world map needs to be plotted showing the countries that search the keyword the most. </a:t>
            </a:r>
          </a:p>
          <a:p>
            <a:pPr marL="0" lvl="0" indent="0" algn="just">
              <a:lnSpc>
                <a:spcPts val="4725"/>
              </a:lnSpc>
            </a:pPr>
            <a:r>
              <a:rPr lang="en-US" sz="2473" u="none" strike="noStrike">
                <a:solidFill>
                  <a:srgbClr val="272727"/>
                </a:solidFill>
                <a:latin typeface="Poppins"/>
                <a:ea typeface="Poppins"/>
                <a:cs typeface="Poppins"/>
                <a:sym typeface="Poppins"/>
              </a:rPr>
              <a:t>4) We need to extract the time-wise interest of the keyword — how it trended in different years. </a:t>
            </a:r>
          </a:p>
          <a:p>
            <a:pPr marL="0" lvl="0" indent="0" algn="just">
              <a:lnSpc>
                <a:spcPts val="4725"/>
              </a:lnSpc>
            </a:pPr>
            <a:r>
              <a:rPr lang="en-US" sz="2473" u="none" strike="noStrike">
                <a:solidFill>
                  <a:srgbClr val="272727"/>
                </a:solidFill>
                <a:latin typeface="Poppins"/>
                <a:ea typeface="Poppins"/>
                <a:cs typeface="Poppins"/>
                <a:sym typeface="Poppins"/>
              </a:rPr>
              <a:t>5) Compare related keywords and plot the graph. </a:t>
            </a:r>
          </a:p>
        </p:txBody>
      </p:sp>
      <p:sp>
        <p:nvSpPr>
          <p:cNvPr id="23" name="TextBox 23"/>
          <p:cNvSpPr txBox="1"/>
          <p:nvPr/>
        </p:nvSpPr>
        <p:spPr>
          <a:xfrm>
            <a:off x="509660" y="2299489"/>
            <a:ext cx="16697179" cy="645735"/>
          </a:xfrm>
          <a:prstGeom prst="rect">
            <a:avLst/>
          </a:prstGeom>
        </p:spPr>
        <p:txBody>
          <a:bodyPr lIns="0" tIns="0" rIns="0" bIns="0" rtlCol="0" anchor="t">
            <a:spAutoFit/>
          </a:bodyPr>
          <a:lstStyle/>
          <a:p>
            <a:pPr marL="0" lvl="0" indent="0" algn="just">
              <a:lnSpc>
                <a:spcPts val="5489"/>
              </a:lnSpc>
            </a:pPr>
            <a:r>
              <a:rPr lang="en-US" sz="2873">
                <a:solidFill>
                  <a:srgbClr val="272727"/>
                </a:solidFill>
                <a:latin typeface="Poppins"/>
                <a:ea typeface="Poppins"/>
                <a:cs typeface="Poppins"/>
                <a:sym typeface="Poppins"/>
              </a:rPr>
              <a:t>If working in a data-driven job role, and you have to answer all these questions.</a:t>
            </a:r>
          </a:p>
        </p:txBody>
      </p:sp>
      <p:sp>
        <p:nvSpPr>
          <p:cNvPr id="24" name="TextBox 24"/>
          <p:cNvSpPr txBox="1"/>
          <p:nvPr/>
        </p:nvSpPr>
        <p:spPr>
          <a:xfrm>
            <a:off x="562121" y="7379876"/>
            <a:ext cx="16697179" cy="1350203"/>
          </a:xfrm>
          <a:prstGeom prst="rect">
            <a:avLst/>
          </a:prstGeom>
        </p:spPr>
        <p:txBody>
          <a:bodyPr lIns="0" tIns="0" rIns="0" bIns="0" rtlCol="0" anchor="t">
            <a:spAutoFit/>
          </a:bodyPr>
          <a:lstStyle/>
          <a:p>
            <a:pPr marL="0" lvl="0" indent="0" algn="just">
              <a:lnSpc>
                <a:spcPts val="3587"/>
              </a:lnSpc>
            </a:pPr>
            <a:r>
              <a:rPr lang="en-US" sz="2473">
                <a:solidFill>
                  <a:srgbClr val="272727"/>
                </a:solidFill>
                <a:latin typeface="Poppins"/>
                <a:ea typeface="Poppins"/>
                <a:cs typeface="Poppins"/>
                <a:sym typeface="Poppins"/>
              </a:rPr>
              <a:t>Analyze search trends f</a:t>
            </a:r>
            <a:r>
              <a:rPr lang="en-US" sz="2473" u="none" strike="noStrike">
                <a:solidFill>
                  <a:srgbClr val="272727"/>
                </a:solidFill>
                <a:latin typeface="Poppins"/>
                <a:ea typeface="Poppins"/>
                <a:cs typeface="Poppins"/>
                <a:sym typeface="Poppins"/>
              </a:rPr>
              <a:t>or different keywords by allowing easy keyword changes and extracting global search data. Visualize insights using top-15 country charts, a world map, time-wise trends, and comparison graphs of related keywords.</a:t>
            </a:r>
          </a:p>
        </p:txBody>
      </p:sp>
      <p:sp>
        <p:nvSpPr>
          <p:cNvPr id="25" name="Freeform 25"/>
          <p:cNvSpPr/>
          <p:nvPr/>
        </p:nvSpPr>
        <p:spPr>
          <a:xfrm>
            <a:off x="15832177" y="-251607"/>
            <a:ext cx="2446382" cy="1629902"/>
          </a:xfrm>
          <a:custGeom>
            <a:avLst/>
            <a:gdLst/>
            <a:ahLst/>
            <a:cxnLst/>
            <a:rect l="l" t="t" r="r" b="b"/>
            <a:pathLst>
              <a:path w="2446382" h="1629902">
                <a:moveTo>
                  <a:pt x="0" y="0"/>
                </a:moveTo>
                <a:lnTo>
                  <a:pt x="2446382" y="0"/>
                </a:lnTo>
                <a:lnTo>
                  <a:pt x="2446382" y="1629902"/>
                </a:lnTo>
                <a:lnTo>
                  <a:pt x="0" y="1629902"/>
                </a:lnTo>
                <a:lnTo>
                  <a:pt x="0" y="0"/>
                </a:lnTo>
                <a:close/>
              </a:path>
            </a:pathLst>
          </a:custGeom>
          <a:blipFill>
            <a:blip r:embed="rId4"/>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4990871" y="-7612738"/>
            <a:ext cx="2871829" cy="14493317"/>
            <a:chOff x="0" y="0"/>
            <a:chExt cx="660400" cy="3332854"/>
          </a:xfrm>
        </p:grpSpPr>
        <p:sp>
          <p:nvSpPr>
            <p:cNvPr id="3" name="Freeform 3"/>
            <p:cNvSpPr/>
            <p:nvPr/>
          </p:nvSpPr>
          <p:spPr>
            <a:xfrm>
              <a:off x="0" y="0"/>
              <a:ext cx="660400" cy="3332854"/>
            </a:xfrm>
            <a:custGeom>
              <a:avLst/>
              <a:gdLst/>
              <a:ahLst/>
              <a:cxnLst/>
              <a:rect l="l" t="t" r="r" b="b"/>
              <a:pathLst>
                <a:path w="660400" h="3332854">
                  <a:moveTo>
                    <a:pt x="220252" y="3313785"/>
                  </a:moveTo>
                  <a:cubicBezTo>
                    <a:pt x="254109" y="3325299"/>
                    <a:pt x="292600" y="3332854"/>
                    <a:pt x="330378" y="3332854"/>
                  </a:cubicBezTo>
                  <a:cubicBezTo>
                    <a:pt x="368157" y="3332854"/>
                    <a:pt x="404509" y="3326377"/>
                    <a:pt x="438009" y="3314864"/>
                  </a:cubicBezTo>
                  <a:cubicBezTo>
                    <a:pt x="438723" y="3314504"/>
                    <a:pt x="439435" y="3314504"/>
                    <a:pt x="440148" y="3314145"/>
                  </a:cubicBezTo>
                  <a:cubicBezTo>
                    <a:pt x="565955" y="3268089"/>
                    <a:pt x="658618" y="3146475"/>
                    <a:pt x="660400" y="2948375"/>
                  </a:cubicBezTo>
                  <a:lnTo>
                    <a:pt x="660400" y="0"/>
                  </a:lnTo>
                  <a:lnTo>
                    <a:pt x="0" y="0"/>
                  </a:lnTo>
                  <a:lnTo>
                    <a:pt x="0" y="2946187"/>
                  </a:lnTo>
                  <a:cubicBezTo>
                    <a:pt x="1782" y="3147194"/>
                    <a:pt x="93019" y="3268809"/>
                    <a:pt x="220252" y="3313785"/>
                  </a:cubicBezTo>
                  <a:close/>
                </a:path>
              </a:pathLst>
            </a:custGeom>
            <a:gradFill rotWithShape="1">
              <a:gsLst>
                <a:gs pos="0">
                  <a:srgbClr val="00C2CB">
                    <a:alpha val="100000"/>
                  </a:srgbClr>
                </a:gs>
                <a:gs pos="50000">
                  <a:srgbClr val="0064CD">
                    <a:alpha val="100000"/>
                  </a:srgbClr>
                </a:gs>
                <a:gs pos="100000">
                  <a:srgbClr val="4689F6">
                    <a:alpha val="100000"/>
                  </a:srgbClr>
                </a:gs>
              </a:gsLst>
              <a:path path="circle">
                <a:fillToRect r="100000" b="100000"/>
              </a:path>
              <a:tileRect l="-100000" t="-100000"/>
            </a:gradFill>
            <a:ln cap="sq">
              <a:noFill/>
              <a:prstDash val="solid"/>
              <a:miter/>
            </a:ln>
          </p:spPr>
        </p:sp>
        <p:sp>
          <p:nvSpPr>
            <p:cNvPr id="4" name="TextBox 4"/>
            <p:cNvSpPr txBox="1"/>
            <p:nvPr/>
          </p:nvSpPr>
          <p:spPr>
            <a:xfrm>
              <a:off x="0" y="-57150"/>
              <a:ext cx="660400" cy="32630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2677892" y="1912867"/>
            <a:ext cx="5295783" cy="1535777"/>
          </a:xfrm>
          <a:custGeom>
            <a:avLst/>
            <a:gdLst/>
            <a:ahLst/>
            <a:cxnLst/>
            <a:rect l="l" t="t" r="r" b="b"/>
            <a:pathLst>
              <a:path w="5295783" h="1535777">
                <a:moveTo>
                  <a:pt x="0" y="0"/>
                </a:moveTo>
                <a:lnTo>
                  <a:pt x="5295783" y="0"/>
                </a:lnTo>
                <a:lnTo>
                  <a:pt x="5295783" y="1535777"/>
                </a:lnTo>
                <a:lnTo>
                  <a:pt x="0" y="1535777"/>
                </a:lnTo>
                <a:lnTo>
                  <a:pt x="0" y="0"/>
                </a:lnTo>
                <a:close/>
              </a:path>
            </a:pathLst>
          </a:custGeom>
          <a:blipFill>
            <a:blip r:embed="rId2"/>
            <a:stretch>
              <a:fillRect/>
            </a:stretch>
          </a:blipFill>
        </p:spPr>
      </p:sp>
      <p:sp>
        <p:nvSpPr>
          <p:cNvPr id="6" name="TextBox 6"/>
          <p:cNvSpPr txBox="1"/>
          <p:nvPr/>
        </p:nvSpPr>
        <p:spPr>
          <a:xfrm>
            <a:off x="116862" y="11289"/>
            <a:ext cx="14672495" cy="892175"/>
          </a:xfrm>
          <a:prstGeom prst="rect">
            <a:avLst/>
          </a:prstGeom>
        </p:spPr>
        <p:txBody>
          <a:bodyPr lIns="0" tIns="0" rIns="0" bIns="0" rtlCol="0" anchor="t">
            <a:spAutoFit/>
          </a:bodyPr>
          <a:lstStyle/>
          <a:p>
            <a:pPr algn="l">
              <a:lnSpc>
                <a:spcPts val="6999"/>
              </a:lnSpc>
            </a:pPr>
            <a:r>
              <a:rPr lang="en-US" sz="4999" b="1">
                <a:solidFill>
                  <a:srgbClr val="FFFFFF"/>
                </a:solidFill>
                <a:latin typeface="Poppins Bold"/>
                <a:ea typeface="Poppins Bold"/>
                <a:cs typeface="Poppins Bold"/>
                <a:sym typeface="Poppins Bold"/>
              </a:rPr>
              <a:t>ABOUT OF LIBRARYS TO USE IN PROJECT</a:t>
            </a:r>
          </a:p>
        </p:txBody>
      </p:sp>
      <p:sp>
        <p:nvSpPr>
          <p:cNvPr id="7" name="TextBox 7"/>
          <p:cNvSpPr txBox="1"/>
          <p:nvPr/>
        </p:nvSpPr>
        <p:spPr>
          <a:xfrm>
            <a:off x="714375" y="1836667"/>
            <a:ext cx="6983909" cy="1802333"/>
          </a:xfrm>
          <a:prstGeom prst="rect">
            <a:avLst/>
          </a:prstGeom>
        </p:spPr>
        <p:txBody>
          <a:bodyPr lIns="0" tIns="0" rIns="0" bIns="0" rtlCol="0" anchor="t">
            <a:spAutoFit/>
          </a:bodyPr>
          <a:lstStyle/>
          <a:p>
            <a:pPr algn="l">
              <a:lnSpc>
                <a:spcPts val="3558"/>
              </a:lnSpc>
              <a:spcBef>
                <a:spcPct val="0"/>
              </a:spcBef>
            </a:pPr>
            <a:r>
              <a:rPr lang="en-US" sz="2541" b="1">
                <a:solidFill>
                  <a:srgbClr val="000000"/>
                </a:solidFill>
                <a:latin typeface="Poppins Bold"/>
                <a:ea typeface="Poppins Bold"/>
                <a:cs typeface="Poppins Bold"/>
                <a:sym typeface="Poppins Bold"/>
              </a:rPr>
              <a:t>Pandas – </a:t>
            </a:r>
            <a:r>
              <a:rPr lang="en-US" sz="2541">
                <a:solidFill>
                  <a:srgbClr val="000000"/>
                </a:solidFill>
                <a:latin typeface="Poppins"/>
                <a:ea typeface="Poppins"/>
                <a:cs typeface="Poppins"/>
                <a:sym typeface="Poppins"/>
              </a:rPr>
              <a:t>Data analysis, data manipulation</a:t>
            </a:r>
          </a:p>
          <a:p>
            <a:pPr algn="l">
              <a:lnSpc>
                <a:spcPts val="3558"/>
              </a:lnSpc>
              <a:spcBef>
                <a:spcPct val="0"/>
              </a:spcBef>
            </a:pPr>
            <a:r>
              <a:rPr lang="en-US" sz="2541" b="1">
                <a:solidFill>
                  <a:srgbClr val="000000"/>
                </a:solidFill>
                <a:latin typeface="Poppins Bold"/>
                <a:ea typeface="Poppins Bold"/>
                <a:cs typeface="Poppins Bold"/>
                <a:sym typeface="Poppins Bold"/>
              </a:rPr>
              <a:t>Matplotlib –</a:t>
            </a:r>
            <a:r>
              <a:rPr lang="en-US" sz="2541">
                <a:solidFill>
                  <a:srgbClr val="000000"/>
                </a:solidFill>
                <a:latin typeface="Poppins"/>
                <a:ea typeface="Poppins"/>
                <a:cs typeface="Poppins"/>
                <a:sym typeface="Poppins"/>
              </a:rPr>
              <a:t> Basic data visualization</a:t>
            </a:r>
          </a:p>
          <a:p>
            <a:pPr algn="l">
              <a:lnSpc>
                <a:spcPts val="3558"/>
              </a:lnSpc>
              <a:spcBef>
                <a:spcPct val="0"/>
              </a:spcBef>
            </a:pPr>
            <a:r>
              <a:rPr lang="en-US" sz="2541" b="1">
                <a:solidFill>
                  <a:srgbClr val="000000"/>
                </a:solidFill>
                <a:latin typeface="Poppins Bold"/>
                <a:ea typeface="Poppins Bold"/>
                <a:cs typeface="Poppins Bold"/>
                <a:sym typeface="Poppins Bold"/>
              </a:rPr>
              <a:t>Seaborn –</a:t>
            </a:r>
            <a:r>
              <a:rPr lang="en-US" sz="2541">
                <a:solidFill>
                  <a:srgbClr val="000000"/>
                </a:solidFill>
                <a:latin typeface="Poppins"/>
                <a:ea typeface="Poppins"/>
                <a:cs typeface="Poppins"/>
                <a:sym typeface="Poppins"/>
              </a:rPr>
              <a:t> Statistical visualization</a:t>
            </a:r>
          </a:p>
          <a:p>
            <a:pPr algn="l">
              <a:lnSpc>
                <a:spcPts val="3558"/>
              </a:lnSpc>
              <a:spcBef>
                <a:spcPct val="0"/>
              </a:spcBef>
            </a:pPr>
            <a:r>
              <a:rPr lang="en-US" sz="2541" b="1">
                <a:solidFill>
                  <a:srgbClr val="000000"/>
                </a:solidFill>
                <a:latin typeface="Poppins Bold"/>
                <a:ea typeface="Poppins Bold"/>
                <a:cs typeface="Poppins Bold"/>
                <a:sym typeface="Poppins Bold"/>
              </a:rPr>
              <a:t>Plotly –</a:t>
            </a:r>
            <a:r>
              <a:rPr lang="en-US" sz="2541">
                <a:solidFill>
                  <a:srgbClr val="000000"/>
                </a:solidFill>
                <a:latin typeface="Poppins"/>
                <a:ea typeface="Poppins"/>
                <a:cs typeface="Poppins"/>
                <a:sym typeface="Poppins"/>
              </a:rPr>
              <a:t> Interactive visualizations 📊</a:t>
            </a:r>
          </a:p>
        </p:txBody>
      </p:sp>
      <p:sp>
        <p:nvSpPr>
          <p:cNvPr id="8" name="TextBox 8"/>
          <p:cNvSpPr txBox="1"/>
          <p:nvPr/>
        </p:nvSpPr>
        <p:spPr>
          <a:xfrm>
            <a:off x="714375" y="3822318"/>
            <a:ext cx="17259300" cy="2149857"/>
          </a:xfrm>
          <a:prstGeom prst="rect">
            <a:avLst/>
          </a:prstGeom>
        </p:spPr>
        <p:txBody>
          <a:bodyPr lIns="0" tIns="0" rIns="0" bIns="0" rtlCol="0" anchor="t">
            <a:spAutoFit/>
          </a:bodyPr>
          <a:lstStyle/>
          <a:p>
            <a:pPr algn="l">
              <a:lnSpc>
                <a:spcPts val="4341"/>
              </a:lnSpc>
            </a:pPr>
            <a:r>
              <a:rPr lang="en-US" sz="2599" b="1">
                <a:solidFill>
                  <a:srgbClr val="000000"/>
                </a:solidFill>
                <a:latin typeface="Poppins Bold"/>
                <a:ea typeface="Poppins Bold"/>
                <a:cs typeface="Poppins Bold"/>
                <a:sym typeface="Poppins Bold"/>
              </a:rPr>
              <a:t>Pytrends –</a:t>
            </a:r>
            <a:r>
              <a:rPr lang="en-US" sz="2599">
                <a:solidFill>
                  <a:srgbClr val="000000"/>
                </a:solidFill>
                <a:latin typeface="Poppins"/>
                <a:ea typeface="Poppins"/>
                <a:cs typeface="Poppins"/>
                <a:sym typeface="Poppins"/>
              </a:rPr>
              <a:t> Pytrends is an unofficial Python library that allows easy access to Google Trends data through Google’s internal API. Since Google doesn’t provide an official public API for Trends data, Pytrends acts as a smart wrapper around Google's web interface, enabling data analysts and developers to extract trend data for various keywords, regions, and timeframes.</a:t>
            </a:r>
          </a:p>
        </p:txBody>
      </p:sp>
      <p:sp>
        <p:nvSpPr>
          <p:cNvPr id="9" name="TextBox 9"/>
          <p:cNvSpPr txBox="1"/>
          <p:nvPr/>
        </p:nvSpPr>
        <p:spPr>
          <a:xfrm>
            <a:off x="714375" y="6115050"/>
            <a:ext cx="4345682" cy="2513331"/>
          </a:xfrm>
          <a:prstGeom prst="rect">
            <a:avLst/>
          </a:prstGeom>
        </p:spPr>
        <p:txBody>
          <a:bodyPr lIns="0" tIns="0" rIns="0" bIns="0" rtlCol="0" anchor="t">
            <a:spAutoFit/>
          </a:bodyPr>
          <a:lstStyle/>
          <a:p>
            <a:pPr algn="l">
              <a:lnSpc>
                <a:spcPts val="4029"/>
              </a:lnSpc>
            </a:pPr>
            <a:r>
              <a:rPr lang="en-US" sz="2599">
                <a:solidFill>
                  <a:srgbClr val="000000"/>
                </a:solidFill>
                <a:latin typeface="Poppins"/>
                <a:ea typeface="Poppins"/>
                <a:cs typeface="Poppins"/>
                <a:sym typeface="Poppins"/>
              </a:rPr>
              <a:t>It is especially useful for: </a:t>
            </a:r>
          </a:p>
          <a:p>
            <a:pPr algn="l">
              <a:lnSpc>
                <a:spcPts val="4029"/>
              </a:lnSpc>
            </a:pPr>
            <a:r>
              <a:rPr lang="en-US" sz="2599">
                <a:solidFill>
                  <a:srgbClr val="000000"/>
                </a:solidFill>
                <a:latin typeface="Poppins"/>
                <a:ea typeface="Poppins"/>
                <a:cs typeface="Poppins"/>
                <a:sym typeface="Poppins"/>
              </a:rPr>
              <a:t>•Market research </a:t>
            </a:r>
          </a:p>
          <a:p>
            <a:pPr algn="l">
              <a:lnSpc>
                <a:spcPts val="4029"/>
              </a:lnSpc>
            </a:pPr>
            <a:r>
              <a:rPr lang="en-US" sz="2599">
                <a:solidFill>
                  <a:srgbClr val="000000"/>
                </a:solidFill>
                <a:latin typeface="Poppins"/>
                <a:ea typeface="Poppins"/>
                <a:cs typeface="Poppins"/>
                <a:sym typeface="Poppins"/>
              </a:rPr>
              <a:t>•Trend forecasting </a:t>
            </a:r>
          </a:p>
          <a:p>
            <a:pPr algn="l">
              <a:lnSpc>
                <a:spcPts val="4029"/>
              </a:lnSpc>
            </a:pPr>
            <a:r>
              <a:rPr lang="en-US" sz="2599">
                <a:solidFill>
                  <a:srgbClr val="000000"/>
                </a:solidFill>
                <a:latin typeface="Poppins"/>
                <a:ea typeface="Poppins"/>
                <a:cs typeface="Poppins"/>
                <a:sym typeface="Poppins"/>
              </a:rPr>
              <a:t>•Competitive analysis </a:t>
            </a:r>
          </a:p>
          <a:p>
            <a:pPr algn="l">
              <a:lnSpc>
                <a:spcPts val="4029"/>
              </a:lnSpc>
            </a:pPr>
            <a:r>
              <a:rPr lang="en-US" sz="2599">
                <a:solidFill>
                  <a:srgbClr val="000000"/>
                </a:solidFill>
                <a:latin typeface="Poppins"/>
                <a:ea typeface="Poppins"/>
                <a:cs typeface="Poppins"/>
                <a:sym typeface="Poppins"/>
              </a:rPr>
              <a:t>•Keyword research for SEO</a:t>
            </a:r>
          </a:p>
        </p:txBody>
      </p:sp>
      <p:sp>
        <p:nvSpPr>
          <p:cNvPr id="10" name="Freeform 10"/>
          <p:cNvSpPr/>
          <p:nvPr/>
        </p:nvSpPr>
        <p:spPr>
          <a:xfrm>
            <a:off x="15832177" y="-251607"/>
            <a:ext cx="2446382" cy="1629902"/>
          </a:xfrm>
          <a:custGeom>
            <a:avLst/>
            <a:gdLst/>
            <a:ahLst/>
            <a:cxnLst/>
            <a:rect l="l" t="t" r="r" b="b"/>
            <a:pathLst>
              <a:path w="2446382" h="1629902">
                <a:moveTo>
                  <a:pt x="0" y="0"/>
                </a:moveTo>
                <a:lnTo>
                  <a:pt x="2446382" y="0"/>
                </a:lnTo>
                <a:lnTo>
                  <a:pt x="2446382" y="1629902"/>
                </a:lnTo>
                <a:lnTo>
                  <a:pt x="0" y="1629902"/>
                </a:lnTo>
                <a:lnTo>
                  <a:pt x="0" y="0"/>
                </a:lnTo>
                <a:close/>
              </a:path>
            </a:pathLst>
          </a:custGeom>
          <a:blipFill>
            <a:blip r:embed="rId3"/>
            <a:stretch>
              <a:fillRect/>
            </a:stretch>
          </a:blipFill>
        </p:spPr>
      </p:sp>
      <p:grpSp>
        <p:nvGrpSpPr>
          <p:cNvPr id="11" name="Group 11"/>
          <p:cNvGrpSpPr/>
          <p:nvPr/>
        </p:nvGrpSpPr>
        <p:grpSpPr>
          <a:xfrm rot="5400000">
            <a:off x="11019134" y="7898038"/>
            <a:ext cx="796952" cy="3638092"/>
            <a:chOff x="0" y="0"/>
            <a:chExt cx="660400" cy="3014730"/>
          </a:xfrm>
        </p:grpSpPr>
        <p:sp>
          <p:nvSpPr>
            <p:cNvPr id="12" name="Freeform 12"/>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24C6F1"/>
            </a:solidFill>
            <a:ln w="38100" cap="sq">
              <a:solidFill>
                <a:srgbClr val="FFFFFF"/>
              </a:solidFill>
              <a:prstDash val="solid"/>
              <a:miter/>
            </a:ln>
          </p:spPr>
        </p:sp>
        <p:sp>
          <p:nvSpPr>
            <p:cNvPr id="13" name="TextBox 13"/>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rot="5400000">
            <a:off x="13243896" y="9327260"/>
            <a:ext cx="917568" cy="779648"/>
            <a:chOff x="0" y="0"/>
            <a:chExt cx="1054881" cy="896321"/>
          </a:xfrm>
        </p:grpSpPr>
        <p:sp>
          <p:nvSpPr>
            <p:cNvPr id="15" name="Freeform 15"/>
            <p:cNvSpPr/>
            <p:nvPr/>
          </p:nvSpPr>
          <p:spPr>
            <a:xfrm>
              <a:off x="65026" y="86848"/>
              <a:ext cx="924828" cy="809473"/>
            </a:xfrm>
            <a:custGeom>
              <a:avLst/>
              <a:gdLst/>
              <a:ahLst/>
              <a:cxnLst/>
              <a:rect l="l" t="t" r="r" b="b"/>
              <a:pathLst>
                <a:path w="924828" h="809473">
                  <a:moveTo>
                    <a:pt x="539438" y="44045"/>
                  </a:moveTo>
                  <a:lnTo>
                    <a:pt x="912831" y="678580"/>
                  </a:lnTo>
                  <a:cubicBezTo>
                    <a:pt x="928632" y="705432"/>
                    <a:pt x="928838" y="738691"/>
                    <a:pt x="913372" y="765737"/>
                  </a:cubicBezTo>
                  <a:cubicBezTo>
                    <a:pt x="897906" y="792783"/>
                    <a:pt x="869137" y="809473"/>
                    <a:pt x="837981" y="809473"/>
                  </a:cubicBezTo>
                  <a:lnTo>
                    <a:pt x="86848" y="809473"/>
                  </a:lnTo>
                  <a:cubicBezTo>
                    <a:pt x="55692" y="809473"/>
                    <a:pt x="26923" y="792783"/>
                    <a:pt x="11456" y="765737"/>
                  </a:cubicBezTo>
                  <a:cubicBezTo>
                    <a:pt x="-4010" y="738691"/>
                    <a:pt x="-3803" y="705432"/>
                    <a:pt x="11998" y="678580"/>
                  </a:cubicBezTo>
                  <a:lnTo>
                    <a:pt x="385390" y="44045"/>
                  </a:lnTo>
                  <a:cubicBezTo>
                    <a:pt x="401449" y="16755"/>
                    <a:pt x="430750" y="0"/>
                    <a:pt x="462414" y="0"/>
                  </a:cubicBezTo>
                  <a:cubicBezTo>
                    <a:pt x="494079" y="0"/>
                    <a:pt x="523379" y="16755"/>
                    <a:pt x="539438" y="44045"/>
                  </a:cubicBezTo>
                  <a:close/>
                </a:path>
              </a:pathLst>
            </a:custGeom>
            <a:solidFill>
              <a:srgbClr val="24C6F1"/>
            </a:solidFill>
            <a:ln w="38100" cap="sq">
              <a:solidFill>
                <a:srgbClr val="F6F6F6"/>
              </a:solidFill>
              <a:prstDash val="solid"/>
              <a:miter/>
            </a:ln>
          </p:spPr>
        </p:sp>
        <p:sp>
          <p:nvSpPr>
            <p:cNvPr id="16" name="TextBox 16"/>
            <p:cNvSpPr txBox="1"/>
            <p:nvPr/>
          </p:nvSpPr>
          <p:spPr>
            <a:xfrm>
              <a:off x="164825" y="358999"/>
              <a:ext cx="725230" cy="473299"/>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rot="5400000">
            <a:off x="8031365" y="7898038"/>
            <a:ext cx="796952" cy="3638092"/>
            <a:chOff x="0" y="0"/>
            <a:chExt cx="660400" cy="3014730"/>
          </a:xfrm>
        </p:grpSpPr>
        <p:sp>
          <p:nvSpPr>
            <p:cNvPr id="18" name="Freeform 18"/>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15B1DB"/>
            </a:solidFill>
            <a:ln w="38100" cap="sq">
              <a:solidFill>
                <a:srgbClr val="FFFFFF"/>
              </a:solidFill>
              <a:prstDash val="solid"/>
              <a:miter/>
            </a:ln>
          </p:spPr>
        </p:sp>
        <p:sp>
          <p:nvSpPr>
            <p:cNvPr id="19" name="TextBox 19"/>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0" name="Group 20"/>
          <p:cNvGrpSpPr/>
          <p:nvPr/>
        </p:nvGrpSpPr>
        <p:grpSpPr>
          <a:xfrm rot="5400000">
            <a:off x="4840044" y="7898038"/>
            <a:ext cx="796952" cy="3638092"/>
            <a:chOff x="0" y="0"/>
            <a:chExt cx="660400" cy="3014730"/>
          </a:xfrm>
        </p:grpSpPr>
        <p:sp>
          <p:nvSpPr>
            <p:cNvPr id="21" name="Freeform 21"/>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77CD"/>
            </a:solidFill>
            <a:ln w="38100" cap="sq">
              <a:solidFill>
                <a:srgbClr val="FFFFFF"/>
              </a:solidFill>
              <a:prstDash val="solid"/>
              <a:miter/>
            </a:ln>
          </p:spPr>
        </p:sp>
        <p:sp>
          <p:nvSpPr>
            <p:cNvPr id="22" name="TextBox 22"/>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rot="5400000">
            <a:off x="1735111" y="7898038"/>
            <a:ext cx="796952" cy="3638092"/>
            <a:chOff x="0" y="0"/>
            <a:chExt cx="660400" cy="3014730"/>
          </a:xfrm>
        </p:grpSpPr>
        <p:sp>
          <p:nvSpPr>
            <p:cNvPr id="24" name="Freeform 24"/>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64CD"/>
            </a:solidFill>
            <a:ln w="38100" cap="sq">
              <a:solidFill>
                <a:srgbClr val="FFFFFF"/>
              </a:solidFill>
              <a:prstDash val="solid"/>
              <a:miter/>
            </a:ln>
          </p:spPr>
        </p:sp>
        <p:sp>
          <p:nvSpPr>
            <p:cNvPr id="25" name="TextBox 25"/>
            <p:cNvSpPr txBox="1"/>
            <p:nvPr/>
          </p:nvSpPr>
          <p:spPr>
            <a:xfrm>
              <a:off x="0" y="69850"/>
              <a:ext cx="660400" cy="294488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6113649" y="-7915643"/>
            <a:ext cx="2871829" cy="15099126"/>
            <a:chOff x="0" y="0"/>
            <a:chExt cx="660400" cy="3472165"/>
          </a:xfrm>
        </p:grpSpPr>
        <p:sp>
          <p:nvSpPr>
            <p:cNvPr id="3" name="Freeform 3"/>
            <p:cNvSpPr/>
            <p:nvPr/>
          </p:nvSpPr>
          <p:spPr>
            <a:xfrm>
              <a:off x="0" y="0"/>
              <a:ext cx="660400" cy="3472165"/>
            </a:xfrm>
            <a:custGeom>
              <a:avLst/>
              <a:gdLst/>
              <a:ahLst/>
              <a:cxnLst/>
              <a:rect l="l" t="t" r="r" b="b"/>
              <a:pathLst>
                <a:path w="660400" h="3472165">
                  <a:moveTo>
                    <a:pt x="220252" y="3453096"/>
                  </a:moveTo>
                  <a:cubicBezTo>
                    <a:pt x="254109" y="3464609"/>
                    <a:pt x="292600" y="3472165"/>
                    <a:pt x="330378" y="3472165"/>
                  </a:cubicBezTo>
                  <a:cubicBezTo>
                    <a:pt x="368157" y="3472165"/>
                    <a:pt x="404509" y="3465688"/>
                    <a:pt x="438009" y="3454174"/>
                  </a:cubicBezTo>
                  <a:cubicBezTo>
                    <a:pt x="438723" y="3453815"/>
                    <a:pt x="439435" y="3453815"/>
                    <a:pt x="440148" y="3453455"/>
                  </a:cubicBezTo>
                  <a:cubicBezTo>
                    <a:pt x="565955" y="3407400"/>
                    <a:pt x="658618" y="3285786"/>
                    <a:pt x="660400" y="3084591"/>
                  </a:cubicBezTo>
                  <a:lnTo>
                    <a:pt x="660400" y="0"/>
                  </a:lnTo>
                  <a:lnTo>
                    <a:pt x="0" y="0"/>
                  </a:lnTo>
                  <a:lnTo>
                    <a:pt x="0" y="3082302"/>
                  </a:lnTo>
                  <a:cubicBezTo>
                    <a:pt x="1782" y="3286505"/>
                    <a:pt x="93019" y="3408120"/>
                    <a:pt x="220252" y="3453096"/>
                  </a:cubicBezTo>
                  <a:close/>
                </a:path>
              </a:pathLst>
            </a:custGeom>
            <a:gradFill rotWithShape="1">
              <a:gsLst>
                <a:gs pos="0">
                  <a:srgbClr val="00C2CB">
                    <a:alpha val="100000"/>
                  </a:srgbClr>
                </a:gs>
                <a:gs pos="50000">
                  <a:srgbClr val="0064CD">
                    <a:alpha val="100000"/>
                  </a:srgbClr>
                </a:gs>
                <a:gs pos="100000">
                  <a:srgbClr val="4689F6">
                    <a:alpha val="100000"/>
                  </a:srgbClr>
                </a:gs>
              </a:gsLst>
              <a:path path="circle">
                <a:fillToRect r="100000" b="100000"/>
              </a:path>
              <a:tileRect l="-100000" t="-100000"/>
            </a:gradFill>
            <a:ln cap="sq">
              <a:noFill/>
              <a:prstDash val="solid"/>
              <a:miter/>
            </a:ln>
          </p:spPr>
        </p:sp>
        <p:sp>
          <p:nvSpPr>
            <p:cNvPr id="4" name="TextBox 4"/>
            <p:cNvSpPr txBox="1"/>
            <p:nvPr/>
          </p:nvSpPr>
          <p:spPr>
            <a:xfrm>
              <a:off x="0" y="-57150"/>
              <a:ext cx="660400" cy="34023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5832177" y="-251607"/>
            <a:ext cx="2446382" cy="1629902"/>
          </a:xfrm>
          <a:custGeom>
            <a:avLst/>
            <a:gdLst/>
            <a:ahLst/>
            <a:cxnLst/>
            <a:rect l="l" t="t" r="r" b="b"/>
            <a:pathLst>
              <a:path w="2446382" h="1629902">
                <a:moveTo>
                  <a:pt x="0" y="0"/>
                </a:moveTo>
                <a:lnTo>
                  <a:pt x="2446382" y="0"/>
                </a:lnTo>
                <a:lnTo>
                  <a:pt x="2446382" y="1629902"/>
                </a:lnTo>
                <a:lnTo>
                  <a:pt x="0" y="1629902"/>
                </a:lnTo>
                <a:lnTo>
                  <a:pt x="0" y="0"/>
                </a:lnTo>
                <a:close/>
              </a:path>
            </a:pathLst>
          </a:custGeom>
          <a:blipFill>
            <a:blip r:embed="rId2"/>
            <a:stretch>
              <a:fillRect/>
            </a:stretch>
          </a:blipFill>
        </p:spPr>
      </p:sp>
      <p:grpSp>
        <p:nvGrpSpPr>
          <p:cNvPr id="6" name="Group 6"/>
          <p:cNvGrpSpPr/>
          <p:nvPr/>
        </p:nvGrpSpPr>
        <p:grpSpPr>
          <a:xfrm rot="5400000">
            <a:off x="10733384" y="8086954"/>
            <a:ext cx="796952" cy="3638092"/>
            <a:chOff x="0" y="0"/>
            <a:chExt cx="660400" cy="3014730"/>
          </a:xfrm>
        </p:grpSpPr>
        <p:sp>
          <p:nvSpPr>
            <p:cNvPr id="7" name="Freeform 7"/>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24C6F1"/>
            </a:solidFill>
            <a:ln w="38100" cap="sq">
              <a:solidFill>
                <a:srgbClr val="FFFFFF"/>
              </a:solidFill>
              <a:prstDash val="solid"/>
              <a:miter/>
            </a:ln>
          </p:spPr>
        </p:sp>
        <p:sp>
          <p:nvSpPr>
            <p:cNvPr id="8" name="TextBox 8"/>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rot="5400000">
            <a:off x="12958146" y="9516176"/>
            <a:ext cx="917568" cy="779648"/>
            <a:chOff x="0" y="0"/>
            <a:chExt cx="1054881" cy="896321"/>
          </a:xfrm>
        </p:grpSpPr>
        <p:sp>
          <p:nvSpPr>
            <p:cNvPr id="10" name="Freeform 10"/>
            <p:cNvSpPr/>
            <p:nvPr/>
          </p:nvSpPr>
          <p:spPr>
            <a:xfrm>
              <a:off x="65026" y="86848"/>
              <a:ext cx="924828" cy="809473"/>
            </a:xfrm>
            <a:custGeom>
              <a:avLst/>
              <a:gdLst/>
              <a:ahLst/>
              <a:cxnLst/>
              <a:rect l="l" t="t" r="r" b="b"/>
              <a:pathLst>
                <a:path w="924828" h="809473">
                  <a:moveTo>
                    <a:pt x="539438" y="44045"/>
                  </a:moveTo>
                  <a:lnTo>
                    <a:pt x="912831" y="678580"/>
                  </a:lnTo>
                  <a:cubicBezTo>
                    <a:pt x="928632" y="705432"/>
                    <a:pt x="928838" y="738691"/>
                    <a:pt x="913372" y="765737"/>
                  </a:cubicBezTo>
                  <a:cubicBezTo>
                    <a:pt x="897906" y="792783"/>
                    <a:pt x="869137" y="809473"/>
                    <a:pt x="837981" y="809473"/>
                  </a:cubicBezTo>
                  <a:lnTo>
                    <a:pt x="86848" y="809473"/>
                  </a:lnTo>
                  <a:cubicBezTo>
                    <a:pt x="55692" y="809473"/>
                    <a:pt x="26923" y="792783"/>
                    <a:pt x="11456" y="765737"/>
                  </a:cubicBezTo>
                  <a:cubicBezTo>
                    <a:pt x="-4010" y="738691"/>
                    <a:pt x="-3803" y="705432"/>
                    <a:pt x="11998" y="678580"/>
                  </a:cubicBezTo>
                  <a:lnTo>
                    <a:pt x="385390" y="44045"/>
                  </a:lnTo>
                  <a:cubicBezTo>
                    <a:pt x="401449" y="16755"/>
                    <a:pt x="430750" y="0"/>
                    <a:pt x="462414" y="0"/>
                  </a:cubicBezTo>
                  <a:cubicBezTo>
                    <a:pt x="494079" y="0"/>
                    <a:pt x="523379" y="16755"/>
                    <a:pt x="539438" y="44045"/>
                  </a:cubicBezTo>
                  <a:close/>
                </a:path>
              </a:pathLst>
            </a:custGeom>
            <a:solidFill>
              <a:srgbClr val="24C6F1"/>
            </a:solidFill>
            <a:ln w="38100" cap="sq">
              <a:solidFill>
                <a:srgbClr val="F6F6F6"/>
              </a:solidFill>
              <a:prstDash val="solid"/>
              <a:miter/>
            </a:ln>
          </p:spPr>
        </p:sp>
        <p:sp>
          <p:nvSpPr>
            <p:cNvPr id="11" name="TextBox 11"/>
            <p:cNvSpPr txBox="1"/>
            <p:nvPr/>
          </p:nvSpPr>
          <p:spPr>
            <a:xfrm>
              <a:off x="164825" y="358999"/>
              <a:ext cx="725230" cy="473299"/>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5400000">
            <a:off x="7745615" y="8086954"/>
            <a:ext cx="796952" cy="3638092"/>
            <a:chOff x="0" y="0"/>
            <a:chExt cx="660400" cy="3014730"/>
          </a:xfrm>
        </p:grpSpPr>
        <p:sp>
          <p:nvSpPr>
            <p:cNvPr id="13" name="Freeform 13"/>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15B1DB"/>
            </a:solidFill>
            <a:ln w="38100" cap="sq">
              <a:solidFill>
                <a:srgbClr val="FFFFFF"/>
              </a:solidFill>
              <a:prstDash val="solid"/>
              <a:miter/>
            </a:ln>
          </p:spPr>
        </p:sp>
        <p:sp>
          <p:nvSpPr>
            <p:cNvPr id="14" name="TextBox 14"/>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rot="5400000">
            <a:off x="4554294" y="8086954"/>
            <a:ext cx="796952" cy="3638092"/>
            <a:chOff x="0" y="0"/>
            <a:chExt cx="660400" cy="3014730"/>
          </a:xfrm>
        </p:grpSpPr>
        <p:sp>
          <p:nvSpPr>
            <p:cNvPr id="16" name="Freeform 16"/>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77CD"/>
            </a:solidFill>
            <a:ln w="38100" cap="sq">
              <a:solidFill>
                <a:srgbClr val="FFFFFF"/>
              </a:solidFill>
              <a:prstDash val="solid"/>
              <a:miter/>
            </a:ln>
          </p:spPr>
        </p:sp>
        <p:sp>
          <p:nvSpPr>
            <p:cNvPr id="17" name="TextBox 17"/>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rot="5400000">
            <a:off x="1449361" y="8086954"/>
            <a:ext cx="796952" cy="3638092"/>
            <a:chOff x="0" y="0"/>
            <a:chExt cx="660400" cy="3014730"/>
          </a:xfrm>
        </p:grpSpPr>
        <p:sp>
          <p:nvSpPr>
            <p:cNvPr id="19" name="Freeform 19"/>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64CD"/>
            </a:solidFill>
            <a:ln w="38100" cap="sq">
              <a:solidFill>
                <a:srgbClr val="FFFFFF"/>
              </a:solidFill>
              <a:prstDash val="solid"/>
              <a:miter/>
            </a:ln>
          </p:spPr>
        </p:sp>
        <p:sp>
          <p:nvSpPr>
            <p:cNvPr id="20" name="TextBox 20"/>
            <p:cNvSpPr txBox="1"/>
            <p:nvPr/>
          </p:nvSpPr>
          <p:spPr>
            <a:xfrm>
              <a:off x="0" y="69850"/>
              <a:ext cx="660400" cy="2944880"/>
            </a:xfrm>
            <a:prstGeom prst="rect">
              <a:avLst/>
            </a:prstGeom>
          </p:spPr>
          <p:txBody>
            <a:bodyPr lIns="50800" tIns="50800" rIns="50800" bIns="50800" rtlCol="0" anchor="ctr"/>
            <a:lstStyle/>
            <a:p>
              <a:pPr algn="ctr">
                <a:lnSpc>
                  <a:spcPts val="2659"/>
                </a:lnSpc>
              </a:pPr>
              <a:endParaRPr/>
            </a:p>
          </p:txBody>
        </p:sp>
      </p:grpSp>
      <p:sp>
        <p:nvSpPr>
          <p:cNvPr id="21" name="Freeform 21"/>
          <p:cNvSpPr/>
          <p:nvPr/>
        </p:nvSpPr>
        <p:spPr>
          <a:xfrm>
            <a:off x="1073183" y="1187795"/>
            <a:ext cx="15558023" cy="8508908"/>
          </a:xfrm>
          <a:custGeom>
            <a:avLst/>
            <a:gdLst/>
            <a:ahLst/>
            <a:cxnLst/>
            <a:rect l="l" t="t" r="r" b="b"/>
            <a:pathLst>
              <a:path w="15558023" h="8508908">
                <a:moveTo>
                  <a:pt x="0" y="0"/>
                </a:moveTo>
                <a:lnTo>
                  <a:pt x="15558022" y="0"/>
                </a:lnTo>
                <a:lnTo>
                  <a:pt x="15558022" y="8508908"/>
                </a:lnTo>
                <a:lnTo>
                  <a:pt x="0" y="8508908"/>
                </a:lnTo>
                <a:lnTo>
                  <a:pt x="0" y="0"/>
                </a:lnTo>
                <a:close/>
              </a:path>
            </a:pathLst>
          </a:custGeom>
          <a:blipFill>
            <a:blip r:embed="rId3"/>
            <a:stretch>
              <a:fillRect r="-38898"/>
            </a:stretch>
          </a:blipFill>
        </p:spPr>
      </p:sp>
      <p:sp>
        <p:nvSpPr>
          <p:cNvPr id="22" name="TextBox 22"/>
          <p:cNvSpPr txBox="1"/>
          <p:nvPr/>
        </p:nvSpPr>
        <p:spPr>
          <a:xfrm>
            <a:off x="116862" y="11289"/>
            <a:ext cx="14672495" cy="892175"/>
          </a:xfrm>
          <a:prstGeom prst="rect">
            <a:avLst/>
          </a:prstGeom>
        </p:spPr>
        <p:txBody>
          <a:bodyPr lIns="0" tIns="0" rIns="0" bIns="0" rtlCol="0" anchor="t">
            <a:spAutoFit/>
          </a:bodyPr>
          <a:lstStyle/>
          <a:p>
            <a:pPr algn="l">
              <a:lnSpc>
                <a:spcPts val="6999"/>
              </a:lnSpc>
            </a:pPr>
            <a:r>
              <a:rPr lang="en-US" sz="4999" b="1">
                <a:solidFill>
                  <a:srgbClr val="FFFFFF"/>
                </a:solidFill>
                <a:latin typeface="Poppins Bold"/>
                <a:ea typeface="Poppins Bold"/>
                <a:cs typeface="Poppins Bold"/>
                <a:sym typeface="Poppins Bold"/>
              </a:rPr>
              <a:t>IMPORTING LIBRARIES IN PYTHON NOTEBOOK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509552" y="-7915643"/>
            <a:ext cx="2871829" cy="15099126"/>
            <a:chOff x="0" y="0"/>
            <a:chExt cx="660400" cy="3472165"/>
          </a:xfrm>
        </p:grpSpPr>
        <p:sp>
          <p:nvSpPr>
            <p:cNvPr id="3" name="Freeform 3"/>
            <p:cNvSpPr/>
            <p:nvPr/>
          </p:nvSpPr>
          <p:spPr>
            <a:xfrm>
              <a:off x="0" y="0"/>
              <a:ext cx="660400" cy="3472165"/>
            </a:xfrm>
            <a:custGeom>
              <a:avLst/>
              <a:gdLst/>
              <a:ahLst/>
              <a:cxnLst/>
              <a:rect l="l" t="t" r="r" b="b"/>
              <a:pathLst>
                <a:path w="660400" h="3472165">
                  <a:moveTo>
                    <a:pt x="220252" y="3453096"/>
                  </a:moveTo>
                  <a:cubicBezTo>
                    <a:pt x="254109" y="3464609"/>
                    <a:pt x="292600" y="3472165"/>
                    <a:pt x="330378" y="3472165"/>
                  </a:cubicBezTo>
                  <a:cubicBezTo>
                    <a:pt x="368157" y="3472165"/>
                    <a:pt x="404509" y="3465688"/>
                    <a:pt x="438009" y="3454174"/>
                  </a:cubicBezTo>
                  <a:cubicBezTo>
                    <a:pt x="438723" y="3453815"/>
                    <a:pt x="439435" y="3453815"/>
                    <a:pt x="440148" y="3453455"/>
                  </a:cubicBezTo>
                  <a:cubicBezTo>
                    <a:pt x="565955" y="3407400"/>
                    <a:pt x="658618" y="3285786"/>
                    <a:pt x="660400" y="3084591"/>
                  </a:cubicBezTo>
                  <a:lnTo>
                    <a:pt x="660400" y="0"/>
                  </a:lnTo>
                  <a:lnTo>
                    <a:pt x="0" y="0"/>
                  </a:lnTo>
                  <a:lnTo>
                    <a:pt x="0" y="3082302"/>
                  </a:lnTo>
                  <a:cubicBezTo>
                    <a:pt x="1782" y="3286505"/>
                    <a:pt x="93019" y="3408120"/>
                    <a:pt x="220252" y="3453096"/>
                  </a:cubicBezTo>
                  <a:close/>
                </a:path>
              </a:pathLst>
            </a:custGeom>
            <a:gradFill rotWithShape="1">
              <a:gsLst>
                <a:gs pos="0">
                  <a:srgbClr val="00C2CB">
                    <a:alpha val="100000"/>
                  </a:srgbClr>
                </a:gs>
                <a:gs pos="50000">
                  <a:srgbClr val="0064CD">
                    <a:alpha val="100000"/>
                  </a:srgbClr>
                </a:gs>
                <a:gs pos="100000">
                  <a:srgbClr val="4689F6">
                    <a:alpha val="100000"/>
                  </a:srgbClr>
                </a:gs>
              </a:gsLst>
              <a:path path="circle">
                <a:fillToRect r="100000" b="100000"/>
              </a:path>
              <a:tileRect l="-100000" t="-100000"/>
            </a:gradFill>
            <a:ln cap="sq">
              <a:noFill/>
              <a:prstDash val="solid"/>
              <a:miter/>
            </a:ln>
          </p:spPr>
        </p:sp>
        <p:sp>
          <p:nvSpPr>
            <p:cNvPr id="4" name="TextBox 4"/>
            <p:cNvSpPr txBox="1"/>
            <p:nvPr/>
          </p:nvSpPr>
          <p:spPr>
            <a:xfrm>
              <a:off x="0" y="-57150"/>
              <a:ext cx="660400" cy="34023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5832177" y="-251607"/>
            <a:ext cx="2446382" cy="1629902"/>
          </a:xfrm>
          <a:custGeom>
            <a:avLst/>
            <a:gdLst/>
            <a:ahLst/>
            <a:cxnLst/>
            <a:rect l="l" t="t" r="r" b="b"/>
            <a:pathLst>
              <a:path w="2446382" h="1629902">
                <a:moveTo>
                  <a:pt x="0" y="0"/>
                </a:moveTo>
                <a:lnTo>
                  <a:pt x="2446382" y="0"/>
                </a:lnTo>
                <a:lnTo>
                  <a:pt x="2446382" y="1629902"/>
                </a:lnTo>
                <a:lnTo>
                  <a:pt x="0" y="1629902"/>
                </a:lnTo>
                <a:lnTo>
                  <a:pt x="0" y="0"/>
                </a:lnTo>
                <a:close/>
              </a:path>
            </a:pathLst>
          </a:custGeom>
          <a:blipFill>
            <a:blip r:embed="rId2"/>
            <a:stretch>
              <a:fillRect/>
            </a:stretch>
          </a:blipFill>
        </p:spPr>
      </p:sp>
      <p:sp>
        <p:nvSpPr>
          <p:cNvPr id="6" name="Freeform 6"/>
          <p:cNvSpPr/>
          <p:nvPr/>
        </p:nvSpPr>
        <p:spPr>
          <a:xfrm>
            <a:off x="253136" y="1533865"/>
            <a:ext cx="17781728" cy="4946540"/>
          </a:xfrm>
          <a:custGeom>
            <a:avLst/>
            <a:gdLst/>
            <a:ahLst/>
            <a:cxnLst/>
            <a:rect l="l" t="t" r="r" b="b"/>
            <a:pathLst>
              <a:path w="17781728" h="4946540">
                <a:moveTo>
                  <a:pt x="0" y="0"/>
                </a:moveTo>
                <a:lnTo>
                  <a:pt x="17781728" y="0"/>
                </a:lnTo>
                <a:lnTo>
                  <a:pt x="17781728" y="4946540"/>
                </a:lnTo>
                <a:lnTo>
                  <a:pt x="0" y="4946540"/>
                </a:lnTo>
                <a:lnTo>
                  <a:pt x="0" y="0"/>
                </a:lnTo>
                <a:close/>
              </a:path>
            </a:pathLst>
          </a:custGeom>
          <a:blipFill>
            <a:blip r:embed="rId3"/>
            <a:stretch>
              <a:fillRect r="-19647"/>
            </a:stretch>
          </a:blipFill>
        </p:spPr>
      </p:sp>
      <p:sp>
        <p:nvSpPr>
          <p:cNvPr id="7" name="TextBox 7"/>
          <p:cNvSpPr txBox="1"/>
          <p:nvPr/>
        </p:nvSpPr>
        <p:spPr>
          <a:xfrm>
            <a:off x="116862" y="11289"/>
            <a:ext cx="7695219" cy="892175"/>
          </a:xfrm>
          <a:prstGeom prst="rect">
            <a:avLst/>
          </a:prstGeom>
        </p:spPr>
        <p:txBody>
          <a:bodyPr lIns="0" tIns="0" rIns="0" bIns="0" rtlCol="0" anchor="t">
            <a:spAutoFit/>
          </a:bodyPr>
          <a:lstStyle/>
          <a:p>
            <a:pPr algn="l">
              <a:lnSpc>
                <a:spcPts val="6999"/>
              </a:lnSpc>
            </a:pPr>
            <a:r>
              <a:rPr lang="en-US" sz="4999" b="1">
                <a:solidFill>
                  <a:srgbClr val="FFFFFF"/>
                </a:solidFill>
                <a:latin typeface="Poppins Bold"/>
                <a:ea typeface="Poppins Bold"/>
                <a:cs typeface="Poppins Bold"/>
                <a:sym typeface="Poppins Bold"/>
              </a:rPr>
              <a:t>WORK ON LIBRARYS</a:t>
            </a:r>
          </a:p>
        </p:txBody>
      </p:sp>
      <p:sp>
        <p:nvSpPr>
          <p:cNvPr id="8" name="Freeform 8"/>
          <p:cNvSpPr/>
          <p:nvPr/>
        </p:nvSpPr>
        <p:spPr>
          <a:xfrm>
            <a:off x="7448057" y="408700"/>
            <a:ext cx="728050" cy="728050"/>
          </a:xfrm>
          <a:custGeom>
            <a:avLst/>
            <a:gdLst/>
            <a:ahLst/>
            <a:cxnLst/>
            <a:rect l="l" t="t" r="r" b="b"/>
            <a:pathLst>
              <a:path w="728050" h="728050">
                <a:moveTo>
                  <a:pt x="0" y="0"/>
                </a:moveTo>
                <a:lnTo>
                  <a:pt x="728050" y="0"/>
                </a:lnTo>
                <a:lnTo>
                  <a:pt x="728050" y="728050"/>
                </a:lnTo>
                <a:lnTo>
                  <a:pt x="0" y="7280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14350" y="6709005"/>
            <a:ext cx="20486269" cy="2618740"/>
          </a:xfrm>
          <a:prstGeom prst="rect">
            <a:avLst/>
          </a:prstGeom>
        </p:spPr>
        <p:txBody>
          <a:bodyPr lIns="0" tIns="0" rIns="0" bIns="0" rtlCol="0" anchor="t">
            <a:spAutoFit/>
          </a:bodyPr>
          <a:lstStyle/>
          <a:p>
            <a:pPr algn="l">
              <a:lnSpc>
                <a:spcPts val="2981"/>
              </a:lnSpc>
              <a:spcBef>
                <a:spcPct val="0"/>
              </a:spcBef>
            </a:pPr>
            <a:r>
              <a:rPr lang="en-US" sz="2129" b="1">
                <a:solidFill>
                  <a:srgbClr val="000000"/>
                </a:solidFill>
                <a:latin typeface="Poppins Bold"/>
                <a:ea typeface="Poppins Bold"/>
                <a:cs typeface="Poppins Bold"/>
                <a:sym typeface="Poppins Bold"/>
              </a:rPr>
              <a:t>Description of the Code:</a:t>
            </a:r>
          </a:p>
          <a:p>
            <a:pPr algn="l">
              <a:lnSpc>
                <a:spcPts val="2981"/>
              </a:lnSpc>
              <a:spcBef>
                <a:spcPct val="0"/>
              </a:spcBef>
            </a:pPr>
            <a:r>
              <a:rPr lang="en-US" sz="2129" b="1">
                <a:solidFill>
                  <a:srgbClr val="000000"/>
                </a:solidFill>
                <a:latin typeface="Poppins Bold"/>
                <a:ea typeface="Poppins Bold"/>
                <a:cs typeface="Poppins Bold"/>
                <a:sym typeface="Poppins Bold"/>
              </a:rPr>
              <a:t>Setup pytrends and define keyword :-</a:t>
            </a:r>
          </a:p>
          <a:p>
            <a:pPr algn="l">
              <a:lnSpc>
                <a:spcPts val="2981"/>
              </a:lnSpc>
              <a:spcBef>
                <a:spcPct val="0"/>
              </a:spcBef>
            </a:pPr>
            <a:r>
              <a:rPr lang="en-US" sz="2129">
                <a:solidFill>
                  <a:srgbClr val="000000"/>
                </a:solidFill>
                <a:latin typeface="Poppins"/>
                <a:ea typeface="Poppins"/>
                <a:cs typeface="Poppins"/>
                <a:sym typeface="Poppins"/>
              </a:rPr>
              <a:t> This code initializes the Pytrends connection using TrendReq and</a:t>
            </a:r>
          </a:p>
          <a:p>
            <a:pPr algn="l">
              <a:lnSpc>
                <a:spcPts val="2981"/>
              </a:lnSpc>
              <a:spcBef>
                <a:spcPct val="0"/>
              </a:spcBef>
            </a:pPr>
            <a:r>
              <a:rPr lang="en-US" sz="2129">
                <a:solidFill>
                  <a:srgbClr val="000000"/>
                </a:solidFill>
                <a:latin typeface="Poppins"/>
                <a:ea typeface="Poppins"/>
                <a:cs typeface="Poppins"/>
                <a:sym typeface="Poppins"/>
              </a:rPr>
              <a:t>sets the keyword "data science" to fetch search trend data from Google Trends. 🔎</a:t>
            </a:r>
          </a:p>
          <a:p>
            <a:pPr algn="l">
              <a:lnSpc>
                <a:spcPts val="2981"/>
              </a:lnSpc>
              <a:spcBef>
                <a:spcPct val="0"/>
              </a:spcBef>
            </a:pPr>
            <a:r>
              <a:rPr lang="en-US" sz="2129" b="1">
                <a:solidFill>
                  <a:srgbClr val="000000"/>
                </a:solidFill>
                <a:latin typeface="Poppins Bold"/>
                <a:ea typeface="Poppins Bold"/>
                <a:cs typeface="Poppins Bold"/>
                <a:sym typeface="Poppins Bold"/>
              </a:rPr>
              <a:t>Data Request (build payload) :-</a:t>
            </a:r>
          </a:p>
          <a:p>
            <a:pPr algn="l">
              <a:lnSpc>
                <a:spcPts val="2981"/>
              </a:lnSpc>
              <a:spcBef>
                <a:spcPct val="0"/>
              </a:spcBef>
            </a:pPr>
            <a:r>
              <a:rPr lang="en-US" sz="2129">
                <a:solidFill>
                  <a:srgbClr val="000000"/>
                </a:solidFill>
                <a:latin typeface="Poppins"/>
                <a:ea typeface="Poppins"/>
                <a:cs typeface="Poppins"/>
                <a:sym typeface="Poppins"/>
              </a:rPr>
              <a:t> The build_payload() function prepares the request to Google Trends for the selected </a:t>
            </a:r>
          </a:p>
          <a:p>
            <a:pPr algn="l">
              <a:lnSpc>
                <a:spcPts val="2981"/>
              </a:lnSpc>
              <a:spcBef>
                <a:spcPct val="0"/>
              </a:spcBef>
            </a:pPr>
            <a:r>
              <a:rPr lang="en-US" sz="2129">
                <a:solidFill>
                  <a:srgbClr val="000000"/>
                </a:solidFill>
                <a:latin typeface="Poppins"/>
                <a:ea typeface="Poppins"/>
                <a:cs typeface="Poppins"/>
                <a:sym typeface="Poppins"/>
              </a:rPr>
              <a:t>keyword with no category filter, global location, and last 12 months timeframe to collect search interest data. 📊🌍</a:t>
            </a:r>
          </a:p>
        </p:txBody>
      </p:sp>
      <p:grpSp>
        <p:nvGrpSpPr>
          <p:cNvPr id="10" name="Group 10"/>
          <p:cNvGrpSpPr/>
          <p:nvPr/>
        </p:nvGrpSpPr>
        <p:grpSpPr>
          <a:xfrm rot="5400000">
            <a:off x="10957729" y="8372704"/>
            <a:ext cx="796952" cy="3638092"/>
            <a:chOff x="0" y="0"/>
            <a:chExt cx="660400" cy="3014730"/>
          </a:xfrm>
        </p:grpSpPr>
        <p:sp>
          <p:nvSpPr>
            <p:cNvPr id="11" name="Freeform 11"/>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24C6F1">
                <a:alpha val="57647"/>
              </a:srgbClr>
            </a:solidFill>
            <a:ln w="38100" cap="sq">
              <a:solidFill>
                <a:srgbClr val="FFFFFF">
                  <a:alpha val="57647"/>
                </a:srgbClr>
              </a:solidFill>
              <a:prstDash val="solid"/>
              <a:miter/>
            </a:ln>
          </p:spPr>
        </p:sp>
        <p:sp>
          <p:nvSpPr>
            <p:cNvPr id="12" name="TextBox 12"/>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rot="5400000">
            <a:off x="13182491" y="9801926"/>
            <a:ext cx="917568" cy="779648"/>
            <a:chOff x="0" y="0"/>
            <a:chExt cx="1054881" cy="896321"/>
          </a:xfrm>
        </p:grpSpPr>
        <p:sp>
          <p:nvSpPr>
            <p:cNvPr id="14" name="Freeform 14"/>
            <p:cNvSpPr/>
            <p:nvPr/>
          </p:nvSpPr>
          <p:spPr>
            <a:xfrm>
              <a:off x="65026" y="86848"/>
              <a:ext cx="924828" cy="809473"/>
            </a:xfrm>
            <a:custGeom>
              <a:avLst/>
              <a:gdLst/>
              <a:ahLst/>
              <a:cxnLst/>
              <a:rect l="l" t="t" r="r" b="b"/>
              <a:pathLst>
                <a:path w="924828" h="809473">
                  <a:moveTo>
                    <a:pt x="539438" y="44045"/>
                  </a:moveTo>
                  <a:lnTo>
                    <a:pt x="912831" y="678580"/>
                  </a:lnTo>
                  <a:cubicBezTo>
                    <a:pt x="928632" y="705432"/>
                    <a:pt x="928838" y="738691"/>
                    <a:pt x="913372" y="765737"/>
                  </a:cubicBezTo>
                  <a:cubicBezTo>
                    <a:pt x="897906" y="792783"/>
                    <a:pt x="869137" y="809473"/>
                    <a:pt x="837981" y="809473"/>
                  </a:cubicBezTo>
                  <a:lnTo>
                    <a:pt x="86848" y="809473"/>
                  </a:lnTo>
                  <a:cubicBezTo>
                    <a:pt x="55692" y="809473"/>
                    <a:pt x="26923" y="792783"/>
                    <a:pt x="11456" y="765737"/>
                  </a:cubicBezTo>
                  <a:cubicBezTo>
                    <a:pt x="-4010" y="738691"/>
                    <a:pt x="-3803" y="705432"/>
                    <a:pt x="11998" y="678580"/>
                  </a:cubicBezTo>
                  <a:lnTo>
                    <a:pt x="385390" y="44045"/>
                  </a:lnTo>
                  <a:cubicBezTo>
                    <a:pt x="401449" y="16755"/>
                    <a:pt x="430750" y="0"/>
                    <a:pt x="462414" y="0"/>
                  </a:cubicBezTo>
                  <a:cubicBezTo>
                    <a:pt x="494079" y="0"/>
                    <a:pt x="523379" y="16755"/>
                    <a:pt x="539438" y="44045"/>
                  </a:cubicBezTo>
                  <a:close/>
                </a:path>
              </a:pathLst>
            </a:custGeom>
            <a:solidFill>
              <a:srgbClr val="24C6F1">
                <a:alpha val="57647"/>
              </a:srgbClr>
            </a:solidFill>
            <a:ln w="38100" cap="sq">
              <a:solidFill>
                <a:srgbClr val="F6F6F6">
                  <a:alpha val="57647"/>
                </a:srgbClr>
              </a:solidFill>
              <a:prstDash val="solid"/>
              <a:miter/>
            </a:ln>
          </p:spPr>
        </p:sp>
        <p:sp>
          <p:nvSpPr>
            <p:cNvPr id="15" name="TextBox 15"/>
            <p:cNvSpPr txBox="1"/>
            <p:nvPr/>
          </p:nvSpPr>
          <p:spPr>
            <a:xfrm>
              <a:off x="164825" y="358999"/>
              <a:ext cx="725230" cy="47329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rot="5400000">
            <a:off x="7969960" y="8372704"/>
            <a:ext cx="796952" cy="3638092"/>
            <a:chOff x="0" y="0"/>
            <a:chExt cx="660400" cy="3014730"/>
          </a:xfrm>
        </p:grpSpPr>
        <p:sp>
          <p:nvSpPr>
            <p:cNvPr id="17" name="Freeform 17"/>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15B1DB">
                <a:alpha val="57647"/>
              </a:srgbClr>
            </a:solidFill>
            <a:ln w="38100" cap="sq">
              <a:solidFill>
                <a:srgbClr val="FFFFFF">
                  <a:alpha val="57647"/>
                </a:srgbClr>
              </a:solidFill>
              <a:prstDash val="solid"/>
              <a:miter/>
            </a:ln>
          </p:spPr>
        </p:sp>
        <p:sp>
          <p:nvSpPr>
            <p:cNvPr id="18" name="TextBox 18"/>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rot="5400000">
            <a:off x="4778639" y="8372704"/>
            <a:ext cx="796952" cy="3638092"/>
            <a:chOff x="0" y="0"/>
            <a:chExt cx="660400" cy="3014730"/>
          </a:xfrm>
        </p:grpSpPr>
        <p:sp>
          <p:nvSpPr>
            <p:cNvPr id="20" name="Freeform 20"/>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77CD">
                <a:alpha val="57647"/>
              </a:srgbClr>
            </a:solidFill>
            <a:ln w="38100" cap="sq">
              <a:solidFill>
                <a:srgbClr val="FFFFFF">
                  <a:alpha val="57647"/>
                </a:srgbClr>
              </a:solidFill>
              <a:prstDash val="solid"/>
              <a:miter/>
            </a:ln>
          </p:spPr>
        </p:sp>
        <p:sp>
          <p:nvSpPr>
            <p:cNvPr id="21" name="TextBox 21"/>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2" name="Group 22"/>
          <p:cNvGrpSpPr/>
          <p:nvPr/>
        </p:nvGrpSpPr>
        <p:grpSpPr>
          <a:xfrm rot="5400000">
            <a:off x="1673706" y="8372704"/>
            <a:ext cx="796952" cy="3638092"/>
            <a:chOff x="0" y="0"/>
            <a:chExt cx="660400" cy="3014730"/>
          </a:xfrm>
        </p:grpSpPr>
        <p:sp>
          <p:nvSpPr>
            <p:cNvPr id="23" name="Freeform 23"/>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64CD">
                <a:alpha val="57647"/>
              </a:srgbClr>
            </a:solidFill>
            <a:ln w="38100" cap="sq">
              <a:solidFill>
                <a:srgbClr val="FFFFFF">
                  <a:alpha val="57647"/>
                </a:srgbClr>
              </a:solidFill>
              <a:prstDash val="solid"/>
              <a:miter/>
            </a:ln>
          </p:spPr>
        </p:sp>
        <p:sp>
          <p:nvSpPr>
            <p:cNvPr id="24" name="TextBox 24"/>
            <p:cNvSpPr txBox="1"/>
            <p:nvPr/>
          </p:nvSpPr>
          <p:spPr>
            <a:xfrm>
              <a:off x="0" y="69850"/>
              <a:ext cx="660400" cy="294488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509552" y="-8010893"/>
            <a:ext cx="2871829" cy="15099126"/>
            <a:chOff x="0" y="0"/>
            <a:chExt cx="660400" cy="3472165"/>
          </a:xfrm>
        </p:grpSpPr>
        <p:sp>
          <p:nvSpPr>
            <p:cNvPr id="3" name="Freeform 3"/>
            <p:cNvSpPr/>
            <p:nvPr/>
          </p:nvSpPr>
          <p:spPr>
            <a:xfrm>
              <a:off x="0" y="0"/>
              <a:ext cx="660400" cy="3472165"/>
            </a:xfrm>
            <a:custGeom>
              <a:avLst/>
              <a:gdLst/>
              <a:ahLst/>
              <a:cxnLst/>
              <a:rect l="l" t="t" r="r" b="b"/>
              <a:pathLst>
                <a:path w="660400" h="3472165">
                  <a:moveTo>
                    <a:pt x="220252" y="3453096"/>
                  </a:moveTo>
                  <a:cubicBezTo>
                    <a:pt x="254109" y="3464609"/>
                    <a:pt x="292600" y="3472165"/>
                    <a:pt x="330378" y="3472165"/>
                  </a:cubicBezTo>
                  <a:cubicBezTo>
                    <a:pt x="368157" y="3472165"/>
                    <a:pt x="404509" y="3465688"/>
                    <a:pt x="438009" y="3454174"/>
                  </a:cubicBezTo>
                  <a:cubicBezTo>
                    <a:pt x="438723" y="3453815"/>
                    <a:pt x="439435" y="3453815"/>
                    <a:pt x="440148" y="3453455"/>
                  </a:cubicBezTo>
                  <a:cubicBezTo>
                    <a:pt x="565955" y="3407400"/>
                    <a:pt x="658618" y="3285786"/>
                    <a:pt x="660400" y="3084591"/>
                  </a:cubicBezTo>
                  <a:lnTo>
                    <a:pt x="660400" y="0"/>
                  </a:lnTo>
                  <a:lnTo>
                    <a:pt x="0" y="0"/>
                  </a:lnTo>
                  <a:lnTo>
                    <a:pt x="0" y="3082302"/>
                  </a:lnTo>
                  <a:cubicBezTo>
                    <a:pt x="1782" y="3286505"/>
                    <a:pt x="93019" y="3408120"/>
                    <a:pt x="220252" y="3453096"/>
                  </a:cubicBezTo>
                  <a:close/>
                </a:path>
              </a:pathLst>
            </a:custGeom>
            <a:gradFill rotWithShape="1">
              <a:gsLst>
                <a:gs pos="0">
                  <a:srgbClr val="00C2CB">
                    <a:alpha val="100000"/>
                  </a:srgbClr>
                </a:gs>
                <a:gs pos="50000">
                  <a:srgbClr val="0064CD">
                    <a:alpha val="100000"/>
                  </a:srgbClr>
                </a:gs>
                <a:gs pos="100000">
                  <a:srgbClr val="4689F6">
                    <a:alpha val="100000"/>
                  </a:srgbClr>
                </a:gs>
              </a:gsLst>
              <a:path path="circle">
                <a:fillToRect r="100000" b="100000"/>
              </a:path>
              <a:tileRect l="-100000" t="-100000"/>
            </a:gradFill>
            <a:ln cap="sq">
              <a:noFill/>
              <a:prstDash val="solid"/>
              <a:miter/>
            </a:ln>
          </p:spPr>
        </p:sp>
        <p:sp>
          <p:nvSpPr>
            <p:cNvPr id="4" name="TextBox 4"/>
            <p:cNvSpPr txBox="1"/>
            <p:nvPr/>
          </p:nvSpPr>
          <p:spPr>
            <a:xfrm>
              <a:off x="0" y="-57150"/>
              <a:ext cx="660400" cy="34023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5832177" y="-251607"/>
            <a:ext cx="2446382" cy="1629902"/>
          </a:xfrm>
          <a:custGeom>
            <a:avLst/>
            <a:gdLst/>
            <a:ahLst/>
            <a:cxnLst/>
            <a:rect l="l" t="t" r="r" b="b"/>
            <a:pathLst>
              <a:path w="2446382" h="1629902">
                <a:moveTo>
                  <a:pt x="0" y="0"/>
                </a:moveTo>
                <a:lnTo>
                  <a:pt x="2446382" y="0"/>
                </a:lnTo>
                <a:lnTo>
                  <a:pt x="2446382" y="1629902"/>
                </a:lnTo>
                <a:lnTo>
                  <a:pt x="0" y="1629902"/>
                </a:lnTo>
                <a:lnTo>
                  <a:pt x="0" y="0"/>
                </a:lnTo>
                <a:close/>
              </a:path>
            </a:pathLst>
          </a:custGeom>
          <a:blipFill>
            <a:blip r:embed="rId2"/>
            <a:stretch>
              <a:fillRect/>
            </a:stretch>
          </a:blipFill>
        </p:spPr>
      </p:sp>
      <p:sp>
        <p:nvSpPr>
          <p:cNvPr id="6" name="TextBox 6"/>
          <p:cNvSpPr txBox="1"/>
          <p:nvPr/>
        </p:nvSpPr>
        <p:spPr>
          <a:xfrm>
            <a:off x="116862" y="11289"/>
            <a:ext cx="7695219" cy="892175"/>
          </a:xfrm>
          <a:prstGeom prst="rect">
            <a:avLst/>
          </a:prstGeom>
        </p:spPr>
        <p:txBody>
          <a:bodyPr lIns="0" tIns="0" rIns="0" bIns="0" rtlCol="0" anchor="t">
            <a:spAutoFit/>
          </a:bodyPr>
          <a:lstStyle/>
          <a:p>
            <a:pPr algn="l">
              <a:lnSpc>
                <a:spcPts val="6999"/>
              </a:lnSpc>
            </a:pPr>
            <a:r>
              <a:rPr lang="en-US" sz="4999" b="1">
                <a:solidFill>
                  <a:srgbClr val="FFFFFF"/>
                </a:solidFill>
                <a:latin typeface="Poppins Bold"/>
                <a:ea typeface="Poppins Bold"/>
                <a:cs typeface="Poppins Bold"/>
                <a:sym typeface="Poppins Bold"/>
              </a:rPr>
              <a:t>WORK ON LIBRARYS</a:t>
            </a:r>
          </a:p>
        </p:txBody>
      </p:sp>
      <p:sp>
        <p:nvSpPr>
          <p:cNvPr id="7" name="Freeform 7"/>
          <p:cNvSpPr/>
          <p:nvPr/>
        </p:nvSpPr>
        <p:spPr>
          <a:xfrm>
            <a:off x="7429007" y="218200"/>
            <a:ext cx="728050" cy="728050"/>
          </a:xfrm>
          <a:custGeom>
            <a:avLst/>
            <a:gdLst/>
            <a:ahLst/>
            <a:cxnLst/>
            <a:rect l="l" t="t" r="r" b="b"/>
            <a:pathLst>
              <a:path w="728050" h="728050">
                <a:moveTo>
                  <a:pt x="0" y="0"/>
                </a:moveTo>
                <a:lnTo>
                  <a:pt x="728050" y="0"/>
                </a:lnTo>
                <a:lnTo>
                  <a:pt x="728050" y="728050"/>
                </a:lnTo>
                <a:lnTo>
                  <a:pt x="0" y="7280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rot="5400000">
            <a:off x="10957729" y="8639404"/>
            <a:ext cx="796952" cy="3638092"/>
            <a:chOff x="0" y="0"/>
            <a:chExt cx="660400" cy="3014730"/>
          </a:xfrm>
        </p:grpSpPr>
        <p:sp>
          <p:nvSpPr>
            <p:cNvPr id="9" name="Freeform 9"/>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24C6F1">
                <a:alpha val="57647"/>
              </a:srgbClr>
            </a:solidFill>
            <a:ln w="38100" cap="sq">
              <a:solidFill>
                <a:srgbClr val="FFFFFF">
                  <a:alpha val="57647"/>
                </a:srgbClr>
              </a:solidFill>
              <a:prstDash val="solid"/>
              <a:miter/>
            </a:ln>
          </p:spPr>
        </p:sp>
        <p:sp>
          <p:nvSpPr>
            <p:cNvPr id="10" name="TextBox 10"/>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rot="5400000">
            <a:off x="13182491" y="10068626"/>
            <a:ext cx="917568" cy="779648"/>
            <a:chOff x="0" y="0"/>
            <a:chExt cx="1054881" cy="896321"/>
          </a:xfrm>
        </p:grpSpPr>
        <p:sp>
          <p:nvSpPr>
            <p:cNvPr id="12" name="Freeform 12"/>
            <p:cNvSpPr/>
            <p:nvPr/>
          </p:nvSpPr>
          <p:spPr>
            <a:xfrm>
              <a:off x="65026" y="86848"/>
              <a:ext cx="924828" cy="809473"/>
            </a:xfrm>
            <a:custGeom>
              <a:avLst/>
              <a:gdLst/>
              <a:ahLst/>
              <a:cxnLst/>
              <a:rect l="l" t="t" r="r" b="b"/>
              <a:pathLst>
                <a:path w="924828" h="809473">
                  <a:moveTo>
                    <a:pt x="539438" y="44045"/>
                  </a:moveTo>
                  <a:lnTo>
                    <a:pt x="912831" y="678580"/>
                  </a:lnTo>
                  <a:cubicBezTo>
                    <a:pt x="928632" y="705432"/>
                    <a:pt x="928838" y="738691"/>
                    <a:pt x="913372" y="765737"/>
                  </a:cubicBezTo>
                  <a:cubicBezTo>
                    <a:pt x="897906" y="792783"/>
                    <a:pt x="869137" y="809473"/>
                    <a:pt x="837981" y="809473"/>
                  </a:cubicBezTo>
                  <a:lnTo>
                    <a:pt x="86848" y="809473"/>
                  </a:lnTo>
                  <a:cubicBezTo>
                    <a:pt x="55692" y="809473"/>
                    <a:pt x="26923" y="792783"/>
                    <a:pt x="11456" y="765737"/>
                  </a:cubicBezTo>
                  <a:cubicBezTo>
                    <a:pt x="-4010" y="738691"/>
                    <a:pt x="-3803" y="705432"/>
                    <a:pt x="11998" y="678580"/>
                  </a:cubicBezTo>
                  <a:lnTo>
                    <a:pt x="385390" y="44045"/>
                  </a:lnTo>
                  <a:cubicBezTo>
                    <a:pt x="401449" y="16755"/>
                    <a:pt x="430750" y="0"/>
                    <a:pt x="462414" y="0"/>
                  </a:cubicBezTo>
                  <a:cubicBezTo>
                    <a:pt x="494079" y="0"/>
                    <a:pt x="523379" y="16755"/>
                    <a:pt x="539438" y="44045"/>
                  </a:cubicBezTo>
                  <a:close/>
                </a:path>
              </a:pathLst>
            </a:custGeom>
            <a:solidFill>
              <a:srgbClr val="24C6F1">
                <a:alpha val="57647"/>
              </a:srgbClr>
            </a:solidFill>
            <a:ln w="38100" cap="sq">
              <a:solidFill>
                <a:srgbClr val="F6F6F6">
                  <a:alpha val="57647"/>
                </a:srgbClr>
              </a:solidFill>
              <a:prstDash val="solid"/>
              <a:miter/>
            </a:ln>
          </p:spPr>
        </p:sp>
        <p:sp>
          <p:nvSpPr>
            <p:cNvPr id="13" name="TextBox 13"/>
            <p:cNvSpPr txBox="1"/>
            <p:nvPr/>
          </p:nvSpPr>
          <p:spPr>
            <a:xfrm>
              <a:off x="164825" y="358999"/>
              <a:ext cx="725230" cy="473299"/>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rot="5400000">
            <a:off x="7969960" y="8639404"/>
            <a:ext cx="796952" cy="3638092"/>
            <a:chOff x="0" y="0"/>
            <a:chExt cx="660400" cy="3014730"/>
          </a:xfrm>
        </p:grpSpPr>
        <p:sp>
          <p:nvSpPr>
            <p:cNvPr id="15" name="Freeform 15"/>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15B1DB">
                <a:alpha val="57647"/>
              </a:srgbClr>
            </a:solidFill>
            <a:ln w="38100" cap="sq">
              <a:solidFill>
                <a:srgbClr val="FFFFFF">
                  <a:alpha val="57647"/>
                </a:srgbClr>
              </a:solidFill>
              <a:prstDash val="solid"/>
              <a:miter/>
            </a:ln>
          </p:spPr>
        </p:sp>
        <p:sp>
          <p:nvSpPr>
            <p:cNvPr id="16" name="TextBox 16"/>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rot="5400000">
            <a:off x="4778639" y="8639404"/>
            <a:ext cx="796952" cy="3638092"/>
            <a:chOff x="0" y="0"/>
            <a:chExt cx="660400" cy="3014730"/>
          </a:xfrm>
        </p:grpSpPr>
        <p:sp>
          <p:nvSpPr>
            <p:cNvPr id="18" name="Freeform 18"/>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77CD">
                <a:alpha val="57647"/>
              </a:srgbClr>
            </a:solidFill>
            <a:ln w="38100" cap="sq">
              <a:solidFill>
                <a:srgbClr val="FFFFFF">
                  <a:alpha val="57647"/>
                </a:srgbClr>
              </a:solidFill>
              <a:prstDash val="solid"/>
              <a:miter/>
            </a:ln>
          </p:spPr>
        </p:sp>
        <p:sp>
          <p:nvSpPr>
            <p:cNvPr id="19" name="TextBox 19"/>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0" name="Group 20"/>
          <p:cNvGrpSpPr/>
          <p:nvPr/>
        </p:nvGrpSpPr>
        <p:grpSpPr>
          <a:xfrm rot="5400000">
            <a:off x="1673706" y="8639404"/>
            <a:ext cx="796952" cy="3638092"/>
            <a:chOff x="0" y="0"/>
            <a:chExt cx="660400" cy="3014730"/>
          </a:xfrm>
        </p:grpSpPr>
        <p:sp>
          <p:nvSpPr>
            <p:cNvPr id="21" name="Freeform 21"/>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64CD">
                <a:alpha val="57647"/>
              </a:srgbClr>
            </a:solidFill>
            <a:ln w="38100" cap="sq">
              <a:solidFill>
                <a:srgbClr val="FFFFFF">
                  <a:alpha val="57647"/>
                </a:srgbClr>
              </a:solidFill>
              <a:prstDash val="solid"/>
              <a:miter/>
            </a:ln>
          </p:spPr>
        </p:sp>
        <p:sp>
          <p:nvSpPr>
            <p:cNvPr id="22" name="TextBox 22"/>
            <p:cNvSpPr txBox="1"/>
            <p:nvPr/>
          </p:nvSpPr>
          <p:spPr>
            <a:xfrm>
              <a:off x="0" y="69850"/>
              <a:ext cx="660400" cy="2944880"/>
            </a:xfrm>
            <a:prstGeom prst="rect">
              <a:avLst/>
            </a:prstGeom>
          </p:spPr>
          <p:txBody>
            <a:bodyPr lIns="50800" tIns="50800" rIns="50800" bIns="50800" rtlCol="0" anchor="ctr"/>
            <a:lstStyle/>
            <a:p>
              <a:pPr algn="ctr">
                <a:lnSpc>
                  <a:spcPts val="2659"/>
                </a:lnSpc>
              </a:pPr>
              <a:endParaRPr/>
            </a:p>
          </p:txBody>
        </p:sp>
      </p:grpSp>
      <p:sp>
        <p:nvSpPr>
          <p:cNvPr id="23" name="Freeform 23"/>
          <p:cNvSpPr/>
          <p:nvPr/>
        </p:nvSpPr>
        <p:spPr>
          <a:xfrm>
            <a:off x="333375" y="1127225"/>
            <a:ext cx="17687547" cy="7509676"/>
          </a:xfrm>
          <a:custGeom>
            <a:avLst/>
            <a:gdLst/>
            <a:ahLst/>
            <a:cxnLst/>
            <a:rect l="l" t="t" r="r" b="b"/>
            <a:pathLst>
              <a:path w="17687547" h="7509676">
                <a:moveTo>
                  <a:pt x="0" y="0"/>
                </a:moveTo>
                <a:lnTo>
                  <a:pt x="17687547" y="0"/>
                </a:lnTo>
                <a:lnTo>
                  <a:pt x="17687547" y="7509677"/>
                </a:lnTo>
                <a:lnTo>
                  <a:pt x="0" y="7509677"/>
                </a:lnTo>
                <a:lnTo>
                  <a:pt x="0" y="0"/>
                </a:lnTo>
                <a:close/>
              </a:path>
            </a:pathLst>
          </a:custGeom>
          <a:blipFill>
            <a:blip r:embed="rId5"/>
            <a:stretch>
              <a:fillRect t="-1178" r="-23725" b="-1178"/>
            </a:stretch>
          </a:blipFill>
        </p:spPr>
      </p:sp>
      <p:sp>
        <p:nvSpPr>
          <p:cNvPr id="24" name="TextBox 24"/>
          <p:cNvSpPr txBox="1"/>
          <p:nvPr/>
        </p:nvSpPr>
        <p:spPr>
          <a:xfrm>
            <a:off x="283773" y="8810269"/>
            <a:ext cx="17558150" cy="777905"/>
          </a:xfrm>
          <a:prstGeom prst="rect">
            <a:avLst/>
          </a:prstGeom>
        </p:spPr>
        <p:txBody>
          <a:bodyPr lIns="0" tIns="0" rIns="0" bIns="0" rtlCol="0" anchor="t">
            <a:spAutoFit/>
          </a:bodyPr>
          <a:lstStyle/>
          <a:p>
            <a:pPr algn="ctr">
              <a:lnSpc>
                <a:spcPts val="3058"/>
              </a:lnSpc>
              <a:spcBef>
                <a:spcPct val="0"/>
              </a:spcBef>
            </a:pPr>
            <a:r>
              <a:rPr lang="en-US" sz="2184" b="1">
                <a:solidFill>
                  <a:srgbClr val="000000"/>
                </a:solidFill>
                <a:latin typeface="Poppins Bold"/>
                <a:ea typeface="Poppins Bold"/>
                <a:cs typeface="Poppins Bold"/>
                <a:sym typeface="Poppins Bold"/>
              </a:rPr>
              <a:t>Data Extraction:</a:t>
            </a:r>
            <a:r>
              <a:rPr lang="en-US" sz="2184">
                <a:solidFill>
                  <a:srgbClr val="000000"/>
                </a:solidFill>
                <a:latin typeface="Poppins"/>
                <a:ea typeface="Poppins"/>
                <a:cs typeface="Poppins"/>
                <a:sym typeface="Poppins"/>
              </a:rPr>
              <a:t> Collect country-wise search interest for the keyword and select the top 15 countries with the highest searches.</a:t>
            </a:r>
          </a:p>
          <a:p>
            <a:pPr algn="ctr">
              <a:lnSpc>
                <a:spcPts val="3058"/>
              </a:lnSpc>
              <a:spcBef>
                <a:spcPct val="0"/>
              </a:spcBef>
            </a:pPr>
            <a:r>
              <a:rPr lang="en-US" sz="2184" b="1">
                <a:solidFill>
                  <a:srgbClr val="000000"/>
                </a:solidFill>
                <a:latin typeface="Poppins Bold"/>
                <a:ea typeface="Poppins Bold"/>
                <a:cs typeface="Poppins Bold"/>
                <a:sym typeface="Poppins Bold"/>
              </a:rPr>
              <a:t>Data Visualization: </a:t>
            </a:r>
            <a:r>
              <a:rPr lang="en-US" sz="2184">
                <a:solidFill>
                  <a:srgbClr val="000000"/>
                </a:solidFill>
                <a:latin typeface="Poppins"/>
                <a:ea typeface="Poppins"/>
                <a:cs typeface="Poppins"/>
                <a:sym typeface="Poppins"/>
              </a:rPr>
              <a:t>Display the results using a horizontal bar chart to show which countries search the keyword the most.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509552" y="-8010893"/>
            <a:ext cx="2871829" cy="15099126"/>
            <a:chOff x="0" y="0"/>
            <a:chExt cx="660400" cy="3472165"/>
          </a:xfrm>
        </p:grpSpPr>
        <p:sp>
          <p:nvSpPr>
            <p:cNvPr id="3" name="Freeform 3"/>
            <p:cNvSpPr/>
            <p:nvPr/>
          </p:nvSpPr>
          <p:spPr>
            <a:xfrm>
              <a:off x="0" y="0"/>
              <a:ext cx="660400" cy="3472165"/>
            </a:xfrm>
            <a:custGeom>
              <a:avLst/>
              <a:gdLst/>
              <a:ahLst/>
              <a:cxnLst/>
              <a:rect l="l" t="t" r="r" b="b"/>
              <a:pathLst>
                <a:path w="660400" h="3472165">
                  <a:moveTo>
                    <a:pt x="220252" y="3453096"/>
                  </a:moveTo>
                  <a:cubicBezTo>
                    <a:pt x="254109" y="3464609"/>
                    <a:pt x="292600" y="3472165"/>
                    <a:pt x="330378" y="3472165"/>
                  </a:cubicBezTo>
                  <a:cubicBezTo>
                    <a:pt x="368157" y="3472165"/>
                    <a:pt x="404509" y="3465688"/>
                    <a:pt x="438009" y="3454174"/>
                  </a:cubicBezTo>
                  <a:cubicBezTo>
                    <a:pt x="438723" y="3453815"/>
                    <a:pt x="439435" y="3453815"/>
                    <a:pt x="440148" y="3453455"/>
                  </a:cubicBezTo>
                  <a:cubicBezTo>
                    <a:pt x="565955" y="3407400"/>
                    <a:pt x="658618" y="3285786"/>
                    <a:pt x="660400" y="3084591"/>
                  </a:cubicBezTo>
                  <a:lnTo>
                    <a:pt x="660400" y="0"/>
                  </a:lnTo>
                  <a:lnTo>
                    <a:pt x="0" y="0"/>
                  </a:lnTo>
                  <a:lnTo>
                    <a:pt x="0" y="3082302"/>
                  </a:lnTo>
                  <a:cubicBezTo>
                    <a:pt x="1782" y="3286505"/>
                    <a:pt x="93019" y="3408120"/>
                    <a:pt x="220252" y="3453096"/>
                  </a:cubicBezTo>
                  <a:close/>
                </a:path>
              </a:pathLst>
            </a:custGeom>
            <a:gradFill rotWithShape="1">
              <a:gsLst>
                <a:gs pos="0">
                  <a:srgbClr val="00C2CB">
                    <a:alpha val="100000"/>
                  </a:srgbClr>
                </a:gs>
                <a:gs pos="50000">
                  <a:srgbClr val="0064CD">
                    <a:alpha val="100000"/>
                  </a:srgbClr>
                </a:gs>
                <a:gs pos="100000">
                  <a:srgbClr val="4689F6">
                    <a:alpha val="100000"/>
                  </a:srgbClr>
                </a:gs>
              </a:gsLst>
              <a:path path="circle">
                <a:fillToRect r="100000" b="100000"/>
              </a:path>
              <a:tileRect l="-100000" t="-100000"/>
            </a:gradFill>
            <a:ln cap="sq">
              <a:noFill/>
              <a:prstDash val="solid"/>
              <a:miter/>
            </a:ln>
          </p:spPr>
        </p:sp>
        <p:sp>
          <p:nvSpPr>
            <p:cNvPr id="4" name="TextBox 4"/>
            <p:cNvSpPr txBox="1"/>
            <p:nvPr/>
          </p:nvSpPr>
          <p:spPr>
            <a:xfrm>
              <a:off x="0" y="-57150"/>
              <a:ext cx="660400" cy="34023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5832177" y="-251607"/>
            <a:ext cx="2446382" cy="1629902"/>
          </a:xfrm>
          <a:custGeom>
            <a:avLst/>
            <a:gdLst/>
            <a:ahLst/>
            <a:cxnLst/>
            <a:rect l="l" t="t" r="r" b="b"/>
            <a:pathLst>
              <a:path w="2446382" h="1629902">
                <a:moveTo>
                  <a:pt x="0" y="0"/>
                </a:moveTo>
                <a:lnTo>
                  <a:pt x="2446382" y="0"/>
                </a:lnTo>
                <a:lnTo>
                  <a:pt x="2446382" y="1629902"/>
                </a:lnTo>
                <a:lnTo>
                  <a:pt x="0" y="1629902"/>
                </a:lnTo>
                <a:lnTo>
                  <a:pt x="0" y="0"/>
                </a:lnTo>
                <a:close/>
              </a:path>
            </a:pathLst>
          </a:custGeom>
          <a:blipFill>
            <a:blip r:embed="rId2"/>
            <a:stretch>
              <a:fillRect/>
            </a:stretch>
          </a:blipFill>
        </p:spPr>
      </p:sp>
      <p:sp>
        <p:nvSpPr>
          <p:cNvPr id="6" name="TextBox 6"/>
          <p:cNvSpPr txBox="1"/>
          <p:nvPr/>
        </p:nvSpPr>
        <p:spPr>
          <a:xfrm>
            <a:off x="116862" y="11289"/>
            <a:ext cx="7695219" cy="892175"/>
          </a:xfrm>
          <a:prstGeom prst="rect">
            <a:avLst/>
          </a:prstGeom>
        </p:spPr>
        <p:txBody>
          <a:bodyPr lIns="0" tIns="0" rIns="0" bIns="0" rtlCol="0" anchor="t">
            <a:spAutoFit/>
          </a:bodyPr>
          <a:lstStyle/>
          <a:p>
            <a:pPr algn="l">
              <a:lnSpc>
                <a:spcPts val="6999"/>
              </a:lnSpc>
            </a:pPr>
            <a:r>
              <a:rPr lang="en-US" sz="4999" b="1">
                <a:solidFill>
                  <a:srgbClr val="FFFFFF"/>
                </a:solidFill>
                <a:latin typeface="Poppins Bold"/>
                <a:ea typeface="Poppins Bold"/>
                <a:cs typeface="Poppins Bold"/>
                <a:sym typeface="Poppins Bold"/>
              </a:rPr>
              <a:t>WORK ON LIBRARYS</a:t>
            </a:r>
          </a:p>
        </p:txBody>
      </p:sp>
      <p:sp>
        <p:nvSpPr>
          <p:cNvPr id="7" name="Freeform 7"/>
          <p:cNvSpPr/>
          <p:nvPr/>
        </p:nvSpPr>
        <p:spPr>
          <a:xfrm>
            <a:off x="7429007" y="218200"/>
            <a:ext cx="728050" cy="728050"/>
          </a:xfrm>
          <a:custGeom>
            <a:avLst/>
            <a:gdLst/>
            <a:ahLst/>
            <a:cxnLst/>
            <a:rect l="l" t="t" r="r" b="b"/>
            <a:pathLst>
              <a:path w="728050" h="728050">
                <a:moveTo>
                  <a:pt x="0" y="0"/>
                </a:moveTo>
                <a:lnTo>
                  <a:pt x="728050" y="0"/>
                </a:lnTo>
                <a:lnTo>
                  <a:pt x="728050" y="728050"/>
                </a:lnTo>
                <a:lnTo>
                  <a:pt x="0" y="7280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rot="5400000">
            <a:off x="10957729" y="8639404"/>
            <a:ext cx="796952" cy="3638092"/>
            <a:chOff x="0" y="0"/>
            <a:chExt cx="660400" cy="3014730"/>
          </a:xfrm>
        </p:grpSpPr>
        <p:sp>
          <p:nvSpPr>
            <p:cNvPr id="9" name="Freeform 9"/>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24C6F1">
                <a:alpha val="57647"/>
              </a:srgbClr>
            </a:solidFill>
            <a:ln w="38100" cap="sq">
              <a:solidFill>
                <a:srgbClr val="FFFFFF">
                  <a:alpha val="57647"/>
                </a:srgbClr>
              </a:solidFill>
              <a:prstDash val="solid"/>
              <a:miter/>
            </a:ln>
          </p:spPr>
        </p:sp>
        <p:sp>
          <p:nvSpPr>
            <p:cNvPr id="10" name="TextBox 10"/>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rot="5400000">
            <a:off x="13182491" y="10068626"/>
            <a:ext cx="917568" cy="779648"/>
            <a:chOff x="0" y="0"/>
            <a:chExt cx="1054881" cy="896321"/>
          </a:xfrm>
        </p:grpSpPr>
        <p:sp>
          <p:nvSpPr>
            <p:cNvPr id="12" name="Freeform 12"/>
            <p:cNvSpPr/>
            <p:nvPr/>
          </p:nvSpPr>
          <p:spPr>
            <a:xfrm>
              <a:off x="65026" y="86848"/>
              <a:ext cx="924828" cy="809473"/>
            </a:xfrm>
            <a:custGeom>
              <a:avLst/>
              <a:gdLst/>
              <a:ahLst/>
              <a:cxnLst/>
              <a:rect l="l" t="t" r="r" b="b"/>
              <a:pathLst>
                <a:path w="924828" h="809473">
                  <a:moveTo>
                    <a:pt x="539438" y="44045"/>
                  </a:moveTo>
                  <a:lnTo>
                    <a:pt x="912831" y="678580"/>
                  </a:lnTo>
                  <a:cubicBezTo>
                    <a:pt x="928632" y="705432"/>
                    <a:pt x="928838" y="738691"/>
                    <a:pt x="913372" y="765737"/>
                  </a:cubicBezTo>
                  <a:cubicBezTo>
                    <a:pt x="897906" y="792783"/>
                    <a:pt x="869137" y="809473"/>
                    <a:pt x="837981" y="809473"/>
                  </a:cubicBezTo>
                  <a:lnTo>
                    <a:pt x="86848" y="809473"/>
                  </a:lnTo>
                  <a:cubicBezTo>
                    <a:pt x="55692" y="809473"/>
                    <a:pt x="26923" y="792783"/>
                    <a:pt x="11456" y="765737"/>
                  </a:cubicBezTo>
                  <a:cubicBezTo>
                    <a:pt x="-4010" y="738691"/>
                    <a:pt x="-3803" y="705432"/>
                    <a:pt x="11998" y="678580"/>
                  </a:cubicBezTo>
                  <a:lnTo>
                    <a:pt x="385390" y="44045"/>
                  </a:lnTo>
                  <a:cubicBezTo>
                    <a:pt x="401449" y="16755"/>
                    <a:pt x="430750" y="0"/>
                    <a:pt x="462414" y="0"/>
                  </a:cubicBezTo>
                  <a:cubicBezTo>
                    <a:pt x="494079" y="0"/>
                    <a:pt x="523379" y="16755"/>
                    <a:pt x="539438" y="44045"/>
                  </a:cubicBezTo>
                  <a:close/>
                </a:path>
              </a:pathLst>
            </a:custGeom>
            <a:solidFill>
              <a:srgbClr val="24C6F1">
                <a:alpha val="57647"/>
              </a:srgbClr>
            </a:solidFill>
            <a:ln w="38100" cap="sq">
              <a:solidFill>
                <a:srgbClr val="F6F6F6">
                  <a:alpha val="57647"/>
                </a:srgbClr>
              </a:solidFill>
              <a:prstDash val="solid"/>
              <a:miter/>
            </a:ln>
          </p:spPr>
        </p:sp>
        <p:sp>
          <p:nvSpPr>
            <p:cNvPr id="13" name="TextBox 13"/>
            <p:cNvSpPr txBox="1"/>
            <p:nvPr/>
          </p:nvSpPr>
          <p:spPr>
            <a:xfrm>
              <a:off x="164825" y="358999"/>
              <a:ext cx="725230" cy="473299"/>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rot="5400000">
            <a:off x="7969960" y="8639404"/>
            <a:ext cx="796952" cy="3638092"/>
            <a:chOff x="0" y="0"/>
            <a:chExt cx="660400" cy="3014730"/>
          </a:xfrm>
        </p:grpSpPr>
        <p:sp>
          <p:nvSpPr>
            <p:cNvPr id="15" name="Freeform 15"/>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15B1DB">
                <a:alpha val="57647"/>
              </a:srgbClr>
            </a:solidFill>
            <a:ln w="38100" cap="sq">
              <a:solidFill>
                <a:srgbClr val="FFFFFF">
                  <a:alpha val="57647"/>
                </a:srgbClr>
              </a:solidFill>
              <a:prstDash val="solid"/>
              <a:miter/>
            </a:ln>
          </p:spPr>
        </p:sp>
        <p:sp>
          <p:nvSpPr>
            <p:cNvPr id="16" name="TextBox 16"/>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rot="5400000">
            <a:off x="4778639" y="8639404"/>
            <a:ext cx="796952" cy="3638092"/>
            <a:chOff x="0" y="0"/>
            <a:chExt cx="660400" cy="3014730"/>
          </a:xfrm>
        </p:grpSpPr>
        <p:sp>
          <p:nvSpPr>
            <p:cNvPr id="18" name="Freeform 18"/>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77CD">
                <a:alpha val="57647"/>
              </a:srgbClr>
            </a:solidFill>
            <a:ln w="38100" cap="sq">
              <a:solidFill>
                <a:srgbClr val="FFFFFF">
                  <a:alpha val="57647"/>
                </a:srgbClr>
              </a:solidFill>
              <a:prstDash val="solid"/>
              <a:miter/>
            </a:ln>
          </p:spPr>
        </p:sp>
        <p:sp>
          <p:nvSpPr>
            <p:cNvPr id="19" name="TextBox 19"/>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0" name="Group 20"/>
          <p:cNvGrpSpPr/>
          <p:nvPr/>
        </p:nvGrpSpPr>
        <p:grpSpPr>
          <a:xfrm rot="5400000">
            <a:off x="1673706" y="8639404"/>
            <a:ext cx="796952" cy="3638092"/>
            <a:chOff x="0" y="0"/>
            <a:chExt cx="660400" cy="3014730"/>
          </a:xfrm>
        </p:grpSpPr>
        <p:sp>
          <p:nvSpPr>
            <p:cNvPr id="21" name="Freeform 21"/>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64CD">
                <a:alpha val="57647"/>
              </a:srgbClr>
            </a:solidFill>
            <a:ln w="38100" cap="sq">
              <a:solidFill>
                <a:srgbClr val="FFFFFF">
                  <a:alpha val="57647"/>
                </a:srgbClr>
              </a:solidFill>
              <a:prstDash val="solid"/>
              <a:miter/>
            </a:ln>
          </p:spPr>
        </p:sp>
        <p:sp>
          <p:nvSpPr>
            <p:cNvPr id="22" name="TextBox 22"/>
            <p:cNvSpPr txBox="1"/>
            <p:nvPr/>
          </p:nvSpPr>
          <p:spPr>
            <a:xfrm>
              <a:off x="0" y="69850"/>
              <a:ext cx="660400" cy="2944880"/>
            </a:xfrm>
            <a:prstGeom prst="rect">
              <a:avLst/>
            </a:prstGeom>
          </p:spPr>
          <p:txBody>
            <a:bodyPr lIns="50800" tIns="50800" rIns="50800" bIns="50800" rtlCol="0" anchor="ctr"/>
            <a:lstStyle/>
            <a:p>
              <a:pPr algn="ctr">
                <a:lnSpc>
                  <a:spcPts val="2659"/>
                </a:lnSpc>
              </a:pPr>
              <a:endParaRPr/>
            </a:p>
          </p:txBody>
        </p:sp>
      </p:grpSp>
      <p:sp>
        <p:nvSpPr>
          <p:cNvPr id="23" name="Freeform 23"/>
          <p:cNvSpPr/>
          <p:nvPr/>
        </p:nvSpPr>
        <p:spPr>
          <a:xfrm>
            <a:off x="264723" y="1135546"/>
            <a:ext cx="16339537" cy="7341347"/>
          </a:xfrm>
          <a:custGeom>
            <a:avLst/>
            <a:gdLst/>
            <a:ahLst/>
            <a:cxnLst/>
            <a:rect l="l" t="t" r="r" b="b"/>
            <a:pathLst>
              <a:path w="16339537" h="7341347">
                <a:moveTo>
                  <a:pt x="0" y="0"/>
                </a:moveTo>
                <a:lnTo>
                  <a:pt x="16339537" y="0"/>
                </a:lnTo>
                <a:lnTo>
                  <a:pt x="16339537" y="7341348"/>
                </a:lnTo>
                <a:lnTo>
                  <a:pt x="0" y="7341348"/>
                </a:lnTo>
                <a:lnTo>
                  <a:pt x="0" y="0"/>
                </a:lnTo>
                <a:close/>
              </a:path>
            </a:pathLst>
          </a:custGeom>
          <a:blipFill>
            <a:blip r:embed="rId5"/>
            <a:stretch>
              <a:fillRect l="-1785" r="-1785" b="-2291"/>
            </a:stretch>
          </a:blipFill>
        </p:spPr>
      </p:sp>
      <p:sp>
        <p:nvSpPr>
          <p:cNvPr id="24" name="TextBox 24"/>
          <p:cNvSpPr txBox="1"/>
          <p:nvPr/>
        </p:nvSpPr>
        <p:spPr>
          <a:xfrm>
            <a:off x="285750" y="8619769"/>
            <a:ext cx="18192750" cy="1154179"/>
          </a:xfrm>
          <a:prstGeom prst="rect">
            <a:avLst/>
          </a:prstGeom>
        </p:spPr>
        <p:txBody>
          <a:bodyPr lIns="0" tIns="0" rIns="0" bIns="0" rtlCol="0" anchor="t">
            <a:spAutoFit/>
          </a:bodyPr>
          <a:lstStyle/>
          <a:p>
            <a:pPr algn="l">
              <a:lnSpc>
                <a:spcPts val="3058"/>
              </a:lnSpc>
              <a:spcBef>
                <a:spcPct val="0"/>
              </a:spcBef>
            </a:pPr>
            <a:r>
              <a:rPr lang="en-US" sz="2184" b="1">
                <a:solidFill>
                  <a:srgbClr val="000000"/>
                </a:solidFill>
                <a:latin typeface="Poppins Bold"/>
                <a:ea typeface="Poppins Bold"/>
                <a:cs typeface="Poppins Bold"/>
                <a:sym typeface="Poppins Bold"/>
              </a:rPr>
              <a:t>Code: </a:t>
            </a:r>
            <a:r>
              <a:rPr lang="en-US" sz="2184">
                <a:solidFill>
                  <a:srgbClr val="000000"/>
                </a:solidFill>
                <a:latin typeface="Poppins"/>
                <a:ea typeface="Poppins"/>
                <a:cs typeface="Poppins"/>
                <a:sym typeface="Poppins"/>
              </a:rPr>
              <a:t>Creates a world map showing country-wise search interest for the selected keyword.</a:t>
            </a:r>
          </a:p>
          <a:p>
            <a:pPr algn="l">
              <a:lnSpc>
                <a:spcPts val="3058"/>
              </a:lnSpc>
              <a:spcBef>
                <a:spcPct val="0"/>
              </a:spcBef>
            </a:pPr>
            <a:r>
              <a:rPr lang="en-US" sz="2184" b="1">
                <a:solidFill>
                  <a:srgbClr val="000000"/>
                </a:solidFill>
                <a:latin typeface="Poppins Bold"/>
                <a:ea typeface="Poppins Bold"/>
                <a:cs typeface="Poppins Bold"/>
                <a:sym typeface="Poppins Bold"/>
              </a:rPr>
              <a:t>Graph:</a:t>
            </a:r>
            <a:r>
              <a:rPr lang="en-US" sz="2184">
                <a:solidFill>
                  <a:srgbClr val="000000"/>
                </a:solidFill>
                <a:latin typeface="Poppins"/>
                <a:ea typeface="Poppins"/>
                <a:cs typeface="Poppins"/>
                <a:sym typeface="Poppins"/>
              </a:rPr>
              <a:t> The world map shows the global distribution of search interest for the keyword. Darker shades represent higher search</a:t>
            </a:r>
          </a:p>
          <a:p>
            <a:pPr algn="l">
              <a:lnSpc>
                <a:spcPts val="3058"/>
              </a:lnSpc>
              <a:spcBef>
                <a:spcPct val="0"/>
              </a:spcBef>
            </a:pPr>
            <a:r>
              <a:rPr lang="en-US" sz="2184">
                <a:solidFill>
                  <a:srgbClr val="000000"/>
                </a:solidFill>
                <a:latin typeface="Poppins"/>
                <a:ea typeface="Poppins"/>
                <a:cs typeface="Poppins"/>
                <a:sym typeface="Poppins"/>
              </a:rPr>
              <a:t>    interest, while lighter shades indicate lower interest, helping to easily identify the countries where the keyword is most popular.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509552" y="-8010893"/>
            <a:ext cx="2871829" cy="15099126"/>
            <a:chOff x="0" y="0"/>
            <a:chExt cx="660400" cy="3472165"/>
          </a:xfrm>
        </p:grpSpPr>
        <p:sp>
          <p:nvSpPr>
            <p:cNvPr id="3" name="Freeform 3"/>
            <p:cNvSpPr/>
            <p:nvPr/>
          </p:nvSpPr>
          <p:spPr>
            <a:xfrm>
              <a:off x="0" y="0"/>
              <a:ext cx="660400" cy="3472165"/>
            </a:xfrm>
            <a:custGeom>
              <a:avLst/>
              <a:gdLst/>
              <a:ahLst/>
              <a:cxnLst/>
              <a:rect l="l" t="t" r="r" b="b"/>
              <a:pathLst>
                <a:path w="660400" h="3472165">
                  <a:moveTo>
                    <a:pt x="220252" y="3453096"/>
                  </a:moveTo>
                  <a:cubicBezTo>
                    <a:pt x="254109" y="3464609"/>
                    <a:pt x="292600" y="3472165"/>
                    <a:pt x="330378" y="3472165"/>
                  </a:cubicBezTo>
                  <a:cubicBezTo>
                    <a:pt x="368157" y="3472165"/>
                    <a:pt x="404509" y="3465688"/>
                    <a:pt x="438009" y="3454174"/>
                  </a:cubicBezTo>
                  <a:cubicBezTo>
                    <a:pt x="438723" y="3453815"/>
                    <a:pt x="439435" y="3453815"/>
                    <a:pt x="440148" y="3453455"/>
                  </a:cubicBezTo>
                  <a:cubicBezTo>
                    <a:pt x="565955" y="3407400"/>
                    <a:pt x="658618" y="3285786"/>
                    <a:pt x="660400" y="3084591"/>
                  </a:cubicBezTo>
                  <a:lnTo>
                    <a:pt x="660400" y="0"/>
                  </a:lnTo>
                  <a:lnTo>
                    <a:pt x="0" y="0"/>
                  </a:lnTo>
                  <a:lnTo>
                    <a:pt x="0" y="3082302"/>
                  </a:lnTo>
                  <a:cubicBezTo>
                    <a:pt x="1782" y="3286505"/>
                    <a:pt x="93019" y="3408120"/>
                    <a:pt x="220252" y="3453096"/>
                  </a:cubicBezTo>
                  <a:close/>
                </a:path>
              </a:pathLst>
            </a:custGeom>
            <a:gradFill rotWithShape="1">
              <a:gsLst>
                <a:gs pos="0">
                  <a:srgbClr val="00C2CB">
                    <a:alpha val="100000"/>
                  </a:srgbClr>
                </a:gs>
                <a:gs pos="50000">
                  <a:srgbClr val="0064CD">
                    <a:alpha val="100000"/>
                  </a:srgbClr>
                </a:gs>
                <a:gs pos="100000">
                  <a:srgbClr val="4689F6">
                    <a:alpha val="100000"/>
                  </a:srgbClr>
                </a:gs>
              </a:gsLst>
              <a:path path="circle">
                <a:fillToRect r="100000" b="100000"/>
              </a:path>
              <a:tileRect l="-100000" t="-100000"/>
            </a:gradFill>
            <a:ln cap="sq">
              <a:noFill/>
              <a:prstDash val="solid"/>
              <a:miter/>
            </a:ln>
          </p:spPr>
        </p:sp>
        <p:sp>
          <p:nvSpPr>
            <p:cNvPr id="4" name="TextBox 4"/>
            <p:cNvSpPr txBox="1"/>
            <p:nvPr/>
          </p:nvSpPr>
          <p:spPr>
            <a:xfrm>
              <a:off x="0" y="-57150"/>
              <a:ext cx="660400" cy="34023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5832177" y="-251607"/>
            <a:ext cx="2446382" cy="1629902"/>
          </a:xfrm>
          <a:custGeom>
            <a:avLst/>
            <a:gdLst/>
            <a:ahLst/>
            <a:cxnLst/>
            <a:rect l="l" t="t" r="r" b="b"/>
            <a:pathLst>
              <a:path w="2446382" h="1629902">
                <a:moveTo>
                  <a:pt x="0" y="0"/>
                </a:moveTo>
                <a:lnTo>
                  <a:pt x="2446382" y="0"/>
                </a:lnTo>
                <a:lnTo>
                  <a:pt x="2446382" y="1629902"/>
                </a:lnTo>
                <a:lnTo>
                  <a:pt x="0" y="1629902"/>
                </a:lnTo>
                <a:lnTo>
                  <a:pt x="0" y="0"/>
                </a:lnTo>
                <a:close/>
              </a:path>
            </a:pathLst>
          </a:custGeom>
          <a:blipFill>
            <a:blip r:embed="rId2"/>
            <a:stretch>
              <a:fillRect/>
            </a:stretch>
          </a:blipFill>
        </p:spPr>
      </p:sp>
      <p:sp>
        <p:nvSpPr>
          <p:cNvPr id="6" name="TextBox 6"/>
          <p:cNvSpPr txBox="1"/>
          <p:nvPr/>
        </p:nvSpPr>
        <p:spPr>
          <a:xfrm>
            <a:off x="116862" y="11289"/>
            <a:ext cx="7695219" cy="892175"/>
          </a:xfrm>
          <a:prstGeom prst="rect">
            <a:avLst/>
          </a:prstGeom>
        </p:spPr>
        <p:txBody>
          <a:bodyPr lIns="0" tIns="0" rIns="0" bIns="0" rtlCol="0" anchor="t">
            <a:spAutoFit/>
          </a:bodyPr>
          <a:lstStyle/>
          <a:p>
            <a:pPr algn="l">
              <a:lnSpc>
                <a:spcPts val="6999"/>
              </a:lnSpc>
            </a:pPr>
            <a:r>
              <a:rPr lang="en-US" sz="4999" b="1">
                <a:solidFill>
                  <a:srgbClr val="FFFFFF"/>
                </a:solidFill>
                <a:latin typeface="Poppins Bold"/>
                <a:ea typeface="Poppins Bold"/>
                <a:cs typeface="Poppins Bold"/>
                <a:sym typeface="Poppins Bold"/>
              </a:rPr>
              <a:t>WORK ON LIBRARYS</a:t>
            </a:r>
          </a:p>
        </p:txBody>
      </p:sp>
      <p:sp>
        <p:nvSpPr>
          <p:cNvPr id="7" name="Freeform 7"/>
          <p:cNvSpPr/>
          <p:nvPr/>
        </p:nvSpPr>
        <p:spPr>
          <a:xfrm>
            <a:off x="7429007" y="218200"/>
            <a:ext cx="728050" cy="728050"/>
          </a:xfrm>
          <a:custGeom>
            <a:avLst/>
            <a:gdLst/>
            <a:ahLst/>
            <a:cxnLst/>
            <a:rect l="l" t="t" r="r" b="b"/>
            <a:pathLst>
              <a:path w="728050" h="728050">
                <a:moveTo>
                  <a:pt x="0" y="0"/>
                </a:moveTo>
                <a:lnTo>
                  <a:pt x="728050" y="0"/>
                </a:lnTo>
                <a:lnTo>
                  <a:pt x="728050" y="728050"/>
                </a:lnTo>
                <a:lnTo>
                  <a:pt x="0" y="7280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rot="5400000">
            <a:off x="10957729" y="8639404"/>
            <a:ext cx="796952" cy="3638092"/>
            <a:chOff x="0" y="0"/>
            <a:chExt cx="660400" cy="3014730"/>
          </a:xfrm>
        </p:grpSpPr>
        <p:sp>
          <p:nvSpPr>
            <p:cNvPr id="9" name="Freeform 9"/>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24C6F1">
                <a:alpha val="57647"/>
              </a:srgbClr>
            </a:solidFill>
            <a:ln w="38100" cap="sq">
              <a:solidFill>
                <a:srgbClr val="FFFFFF">
                  <a:alpha val="57647"/>
                </a:srgbClr>
              </a:solidFill>
              <a:prstDash val="solid"/>
              <a:miter/>
            </a:ln>
          </p:spPr>
        </p:sp>
        <p:sp>
          <p:nvSpPr>
            <p:cNvPr id="10" name="TextBox 10"/>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rot="5400000">
            <a:off x="13182491" y="10068626"/>
            <a:ext cx="917568" cy="779648"/>
            <a:chOff x="0" y="0"/>
            <a:chExt cx="1054881" cy="896321"/>
          </a:xfrm>
        </p:grpSpPr>
        <p:sp>
          <p:nvSpPr>
            <p:cNvPr id="12" name="Freeform 12"/>
            <p:cNvSpPr/>
            <p:nvPr/>
          </p:nvSpPr>
          <p:spPr>
            <a:xfrm>
              <a:off x="65026" y="86848"/>
              <a:ext cx="924828" cy="809473"/>
            </a:xfrm>
            <a:custGeom>
              <a:avLst/>
              <a:gdLst/>
              <a:ahLst/>
              <a:cxnLst/>
              <a:rect l="l" t="t" r="r" b="b"/>
              <a:pathLst>
                <a:path w="924828" h="809473">
                  <a:moveTo>
                    <a:pt x="539438" y="44045"/>
                  </a:moveTo>
                  <a:lnTo>
                    <a:pt x="912831" y="678580"/>
                  </a:lnTo>
                  <a:cubicBezTo>
                    <a:pt x="928632" y="705432"/>
                    <a:pt x="928838" y="738691"/>
                    <a:pt x="913372" y="765737"/>
                  </a:cubicBezTo>
                  <a:cubicBezTo>
                    <a:pt x="897906" y="792783"/>
                    <a:pt x="869137" y="809473"/>
                    <a:pt x="837981" y="809473"/>
                  </a:cubicBezTo>
                  <a:lnTo>
                    <a:pt x="86848" y="809473"/>
                  </a:lnTo>
                  <a:cubicBezTo>
                    <a:pt x="55692" y="809473"/>
                    <a:pt x="26923" y="792783"/>
                    <a:pt x="11456" y="765737"/>
                  </a:cubicBezTo>
                  <a:cubicBezTo>
                    <a:pt x="-4010" y="738691"/>
                    <a:pt x="-3803" y="705432"/>
                    <a:pt x="11998" y="678580"/>
                  </a:cubicBezTo>
                  <a:lnTo>
                    <a:pt x="385390" y="44045"/>
                  </a:lnTo>
                  <a:cubicBezTo>
                    <a:pt x="401449" y="16755"/>
                    <a:pt x="430750" y="0"/>
                    <a:pt x="462414" y="0"/>
                  </a:cubicBezTo>
                  <a:cubicBezTo>
                    <a:pt x="494079" y="0"/>
                    <a:pt x="523379" y="16755"/>
                    <a:pt x="539438" y="44045"/>
                  </a:cubicBezTo>
                  <a:close/>
                </a:path>
              </a:pathLst>
            </a:custGeom>
            <a:solidFill>
              <a:srgbClr val="24C6F1">
                <a:alpha val="57647"/>
              </a:srgbClr>
            </a:solidFill>
            <a:ln w="38100" cap="sq">
              <a:solidFill>
                <a:srgbClr val="F6F6F6">
                  <a:alpha val="57647"/>
                </a:srgbClr>
              </a:solidFill>
              <a:prstDash val="solid"/>
              <a:miter/>
            </a:ln>
          </p:spPr>
        </p:sp>
        <p:sp>
          <p:nvSpPr>
            <p:cNvPr id="13" name="TextBox 13"/>
            <p:cNvSpPr txBox="1"/>
            <p:nvPr/>
          </p:nvSpPr>
          <p:spPr>
            <a:xfrm>
              <a:off x="164825" y="358999"/>
              <a:ext cx="725230" cy="473299"/>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rot="5400000">
            <a:off x="7969960" y="8639404"/>
            <a:ext cx="796952" cy="3638092"/>
            <a:chOff x="0" y="0"/>
            <a:chExt cx="660400" cy="3014730"/>
          </a:xfrm>
        </p:grpSpPr>
        <p:sp>
          <p:nvSpPr>
            <p:cNvPr id="15" name="Freeform 15"/>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15B1DB">
                <a:alpha val="57647"/>
              </a:srgbClr>
            </a:solidFill>
            <a:ln w="38100" cap="sq">
              <a:solidFill>
                <a:srgbClr val="FFFFFF">
                  <a:alpha val="57647"/>
                </a:srgbClr>
              </a:solidFill>
              <a:prstDash val="solid"/>
              <a:miter/>
            </a:ln>
          </p:spPr>
        </p:sp>
        <p:sp>
          <p:nvSpPr>
            <p:cNvPr id="16" name="TextBox 16"/>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rot="5400000">
            <a:off x="4778639" y="8639404"/>
            <a:ext cx="796952" cy="3638092"/>
            <a:chOff x="0" y="0"/>
            <a:chExt cx="660400" cy="3014730"/>
          </a:xfrm>
        </p:grpSpPr>
        <p:sp>
          <p:nvSpPr>
            <p:cNvPr id="18" name="Freeform 18"/>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77CD">
                <a:alpha val="57647"/>
              </a:srgbClr>
            </a:solidFill>
            <a:ln w="38100" cap="sq">
              <a:solidFill>
                <a:srgbClr val="FFFFFF">
                  <a:alpha val="57647"/>
                </a:srgbClr>
              </a:solidFill>
              <a:prstDash val="solid"/>
              <a:miter/>
            </a:ln>
          </p:spPr>
        </p:sp>
        <p:sp>
          <p:nvSpPr>
            <p:cNvPr id="19" name="TextBox 19"/>
            <p:cNvSpPr txBox="1"/>
            <p:nvPr/>
          </p:nvSpPr>
          <p:spPr>
            <a:xfrm>
              <a:off x="0" y="69850"/>
              <a:ext cx="660400"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0" name="Group 20"/>
          <p:cNvGrpSpPr/>
          <p:nvPr/>
        </p:nvGrpSpPr>
        <p:grpSpPr>
          <a:xfrm rot="5400000">
            <a:off x="1673706" y="8639404"/>
            <a:ext cx="796952" cy="3638092"/>
            <a:chOff x="0" y="0"/>
            <a:chExt cx="660400" cy="3014730"/>
          </a:xfrm>
        </p:grpSpPr>
        <p:sp>
          <p:nvSpPr>
            <p:cNvPr id="21" name="Freeform 21"/>
            <p:cNvSpPr/>
            <p:nvPr/>
          </p:nvSpPr>
          <p:spPr>
            <a:xfrm>
              <a:off x="0" y="0"/>
              <a:ext cx="660400" cy="3014731"/>
            </a:xfrm>
            <a:custGeom>
              <a:avLst/>
              <a:gdLst/>
              <a:ahLst/>
              <a:cxnLst/>
              <a:rect l="l" t="t" r="r" b="b"/>
              <a:pathLst>
                <a:path w="660400" h="301473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7413"/>
                  </a:cubicBezTo>
                  <a:lnTo>
                    <a:pt x="660400" y="3014731"/>
                  </a:lnTo>
                  <a:lnTo>
                    <a:pt x="0" y="3014731"/>
                  </a:lnTo>
                  <a:lnTo>
                    <a:pt x="0" y="379370"/>
                  </a:lnTo>
                  <a:cubicBezTo>
                    <a:pt x="1782" y="185660"/>
                    <a:pt x="93019" y="64045"/>
                    <a:pt x="220252" y="19070"/>
                  </a:cubicBezTo>
                  <a:close/>
                </a:path>
              </a:pathLst>
            </a:custGeom>
            <a:solidFill>
              <a:srgbClr val="0064CD">
                <a:alpha val="57647"/>
              </a:srgbClr>
            </a:solidFill>
            <a:ln w="38100" cap="sq">
              <a:solidFill>
                <a:srgbClr val="FFFFFF">
                  <a:alpha val="57647"/>
                </a:srgbClr>
              </a:solidFill>
              <a:prstDash val="solid"/>
              <a:miter/>
            </a:ln>
          </p:spPr>
        </p:sp>
        <p:sp>
          <p:nvSpPr>
            <p:cNvPr id="22" name="TextBox 22"/>
            <p:cNvSpPr txBox="1"/>
            <p:nvPr/>
          </p:nvSpPr>
          <p:spPr>
            <a:xfrm>
              <a:off x="0" y="69850"/>
              <a:ext cx="660400" cy="2944880"/>
            </a:xfrm>
            <a:prstGeom prst="rect">
              <a:avLst/>
            </a:prstGeom>
          </p:spPr>
          <p:txBody>
            <a:bodyPr lIns="50800" tIns="50800" rIns="50800" bIns="50800" rtlCol="0" anchor="ctr"/>
            <a:lstStyle/>
            <a:p>
              <a:pPr algn="ctr">
                <a:lnSpc>
                  <a:spcPts val="2659"/>
                </a:lnSpc>
              </a:pPr>
              <a:endParaRPr/>
            </a:p>
          </p:txBody>
        </p:sp>
      </p:grpSp>
      <p:sp>
        <p:nvSpPr>
          <p:cNvPr id="23" name="Freeform 23"/>
          <p:cNvSpPr/>
          <p:nvPr/>
        </p:nvSpPr>
        <p:spPr>
          <a:xfrm>
            <a:off x="389618" y="1149695"/>
            <a:ext cx="16557915" cy="7308149"/>
          </a:xfrm>
          <a:custGeom>
            <a:avLst/>
            <a:gdLst/>
            <a:ahLst/>
            <a:cxnLst/>
            <a:rect l="l" t="t" r="r" b="b"/>
            <a:pathLst>
              <a:path w="16557915" h="7308149">
                <a:moveTo>
                  <a:pt x="0" y="0"/>
                </a:moveTo>
                <a:lnTo>
                  <a:pt x="16557915" y="0"/>
                </a:lnTo>
                <a:lnTo>
                  <a:pt x="16557915" y="7308149"/>
                </a:lnTo>
                <a:lnTo>
                  <a:pt x="0" y="7308149"/>
                </a:lnTo>
                <a:lnTo>
                  <a:pt x="0" y="0"/>
                </a:lnTo>
                <a:close/>
              </a:path>
            </a:pathLst>
          </a:custGeom>
          <a:blipFill>
            <a:blip r:embed="rId5"/>
            <a:stretch>
              <a:fillRect r="-16533"/>
            </a:stretch>
          </a:blipFill>
        </p:spPr>
      </p:sp>
      <p:sp>
        <p:nvSpPr>
          <p:cNvPr id="24" name="TextBox 24"/>
          <p:cNvSpPr txBox="1"/>
          <p:nvPr/>
        </p:nvSpPr>
        <p:spPr>
          <a:xfrm>
            <a:off x="180975" y="8638819"/>
            <a:ext cx="20400203" cy="868429"/>
          </a:xfrm>
          <a:prstGeom prst="rect">
            <a:avLst/>
          </a:prstGeom>
        </p:spPr>
        <p:txBody>
          <a:bodyPr lIns="0" tIns="0" rIns="0" bIns="0" rtlCol="0" anchor="t">
            <a:spAutoFit/>
          </a:bodyPr>
          <a:lstStyle/>
          <a:p>
            <a:pPr algn="l">
              <a:lnSpc>
                <a:spcPts val="3430"/>
              </a:lnSpc>
              <a:spcBef>
                <a:spcPct val="0"/>
              </a:spcBef>
            </a:pPr>
            <a:r>
              <a:rPr lang="en-US" sz="2450" b="1">
                <a:solidFill>
                  <a:srgbClr val="000000"/>
                </a:solidFill>
                <a:latin typeface="Poppins Bold"/>
                <a:ea typeface="Poppins Bold"/>
                <a:cs typeface="Poppins Bold"/>
                <a:sym typeface="Poppins Bold"/>
              </a:rPr>
              <a:t>Code: </a:t>
            </a:r>
            <a:r>
              <a:rPr lang="en-US" sz="2450">
                <a:solidFill>
                  <a:srgbClr val="000000"/>
                </a:solidFill>
                <a:latin typeface="Poppins"/>
                <a:ea typeface="Poppins"/>
                <a:cs typeface="Poppins"/>
                <a:sym typeface="Poppins"/>
              </a:rPr>
              <a:t>Extracts the keyword’s search interest over time and plots it against the date to analyze trends.</a:t>
            </a:r>
          </a:p>
          <a:p>
            <a:pPr algn="l">
              <a:lnSpc>
                <a:spcPts val="3430"/>
              </a:lnSpc>
              <a:spcBef>
                <a:spcPct val="0"/>
              </a:spcBef>
            </a:pPr>
            <a:r>
              <a:rPr lang="en-US" sz="2450" b="1">
                <a:solidFill>
                  <a:srgbClr val="000000"/>
                </a:solidFill>
                <a:latin typeface="Poppins Bold"/>
                <a:ea typeface="Poppins Bold"/>
                <a:cs typeface="Poppins Bold"/>
                <a:sym typeface="Poppins Bold"/>
              </a:rPr>
              <a:t>Graph:</a:t>
            </a:r>
            <a:r>
              <a:rPr lang="en-US" sz="2450">
                <a:solidFill>
                  <a:srgbClr val="000000"/>
                </a:solidFill>
                <a:latin typeface="Poppins"/>
                <a:ea typeface="Poppins"/>
                <a:cs typeface="Poppins"/>
                <a:sym typeface="Poppins"/>
              </a:rPr>
              <a:t> Shows the trend of keyword searches over time, highlighting periods of increase and decrease in interest.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509552" y="-8010893"/>
            <a:ext cx="2871829" cy="15099126"/>
            <a:chOff x="0" y="0"/>
            <a:chExt cx="660400" cy="3472165"/>
          </a:xfrm>
        </p:grpSpPr>
        <p:sp>
          <p:nvSpPr>
            <p:cNvPr id="3" name="Freeform 3"/>
            <p:cNvSpPr/>
            <p:nvPr/>
          </p:nvSpPr>
          <p:spPr>
            <a:xfrm>
              <a:off x="0" y="0"/>
              <a:ext cx="660400" cy="3472165"/>
            </a:xfrm>
            <a:custGeom>
              <a:avLst/>
              <a:gdLst/>
              <a:ahLst/>
              <a:cxnLst/>
              <a:rect l="l" t="t" r="r" b="b"/>
              <a:pathLst>
                <a:path w="660400" h="3472165">
                  <a:moveTo>
                    <a:pt x="220252" y="3453096"/>
                  </a:moveTo>
                  <a:cubicBezTo>
                    <a:pt x="254109" y="3464609"/>
                    <a:pt x="292600" y="3472165"/>
                    <a:pt x="330378" y="3472165"/>
                  </a:cubicBezTo>
                  <a:cubicBezTo>
                    <a:pt x="368157" y="3472165"/>
                    <a:pt x="404509" y="3465688"/>
                    <a:pt x="438009" y="3454174"/>
                  </a:cubicBezTo>
                  <a:cubicBezTo>
                    <a:pt x="438723" y="3453815"/>
                    <a:pt x="439435" y="3453815"/>
                    <a:pt x="440148" y="3453455"/>
                  </a:cubicBezTo>
                  <a:cubicBezTo>
                    <a:pt x="565955" y="3407400"/>
                    <a:pt x="658618" y="3285786"/>
                    <a:pt x="660400" y="3084591"/>
                  </a:cubicBezTo>
                  <a:lnTo>
                    <a:pt x="660400" y="0"/>
                  </a:lnTo>
                  <a:lnTo>
                    <a:pt x="0" y="0"/>
                  </a:lnTo>
                  <a:lnTo>
                    <a:pt x="0" y="3082302"/>
                  </a:lnTo>
                  <a:cubicBezTo>
                    <a:pt x="1782" y="3286505"/>
                    <a:pt x="93019" y="3408120"/>
                    <a:pt x="220252" y="3453096"/>
                  </a:cubicBezTo>
                  <a:close/>
                </a:path>
              </a:pathLst>
            </a:custGeom>
            <a:gradFill rotWithShape="1">
              <a:gsLst>
                <a:gs pos="0">
                  <a:srgbClr val="00C2CB">
                    <a:alpha val="100000"/>
                  </a:srgbClr>
                </a:gs>
                <a:gs pos="50000">
                  <a:srgbClr val="0064CD">
                    <a:alpha val="100000"/>
                  </a:srgbClr>
                </a:gs>
                <a:gs pos="100000">
                  <a:srgbClr val="4689F6">
                    <a:alpha val="100000"/>
                  </a:srgbClr>
                </a:gs>
              </a:gsLst>
              <a:path path="circle">
                <a:fillToRect r="100000" b="100000"/>
              </a:path>
              <a:tileRect l="-100000" t="-100000"/>
            </a:gradFill>
            <a:ln cap="sq">
              <a:noFill/>
              <a:prstDash val="solid"/>
              <a:miter/>
            </a:ln>
          </p:spPr>
        </p:sp>
        <p:sp>
          <p:nvSpPr>
            <p:cNvPr id="4" name="TextBox 4"/>
            <p:cNvSpPr txBox="1"/>
            <p:nvPr/>
          </p:nvSpPr>
          <p:spPr>
            <a:xfrm>
              <a:off x="0" y="-57150"/>
              <a:ext cx="660400" cy="34023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5832177" y="-251607"/>
            <a:ext cx="2446382" cy="1629902"/>
          </a:xfrm>
          <a:custGeom>
            <a:avLst/>
            <a:gdLst/>
            <a:ahLst/>
            <a:cxnLst/>
            <a:rect l="l" t="t" r="r" b="b"/>
            <a:pathLst>
              <a:path w="2446382" h="1629902">
                <a:moveTo>
                  <a:pt x="0" y="0"/>
                </a:moveTo>
                <a:lnTo>
                  <a:pt x="2446382" y="0"/>
                </a:lnTo>
                <a:lnTo>
                  <a:pt x="2446382" y="1629902"/>
                </a:lnTo>
                <a:lnTo>
                  <a:pt x="0" y="1629902"/>
                </a:lnTo>
                <a:lnTo>
                  <a:pt x="0" y="0"/>
                </a:lnTo>
                <a:close/>
              </a:path>
            </a:pathLst>
          </a:custGeom>
          <a:blipFill>
            <a:blip r:embed="rId2"/>
            <a:stretch>
              <a:fillRect/>
            </a:stretch>
          </a:blipFill>
        </p:spPr>
      </p:sp>
      <p:sp>
        <p:nvSpPr>
          <p:cNvPr id="6" name="TextBox 6"/>
          <p:cNvSpPr txBox="1"/>
          <p:nvPr/>
        </p:nvSpPr>
        <p:spPr>
          <a:xfrm>
            <a:off x="116862" y="11289"/>
            <a:ext cx="7695219" cy="892175"/>
          </a:xfrm>
          <a:prstGeom prst="rect">
            <a:avLst/>
          </a:prstGeom>
        </p:spPr>
        <p:txBody>
          <a:bodyPr lIns="0" tIns="0" rIns="0" bIns="0" rtlCol="0" anchor="t">
            <a:spAutoFit/>
          </a:bodyPr>
          <a:lstStyle/>
          <a:p>
            <a:pPr algn="l">
              <a:lnSpc>
                <a:spcPts val="6999"/>
              </a:lnSpc>
            </a:pPr>
            <a:r>
              <a:rPr lang="en-US" sz="4999" b="1">
                <a:solidFill>
                  <a:srgbClr val="FFFFFF"/>
                </a:solidFill>
                <a:latin typeface="Poppins Bold"/>
                <a:ea typeface="Poppins Bold"/>
                <a:cs typeface="Poppins Bold"/>
                <a:sym typeface="Poppins Bold"/>
              </a:rPr>
              <a:t>WORK ON LIBRARYS</a:t>
            </a:r>
          </a:p>
        </p:txBody>
      </p:sp>
      <p:sp>
        <p:nvSpPr>
          <p:cNvPr id="7" name="Freeform 7"/>
          <p:cNvSpPr/>
          <p:nvPr/>
        </p:nvSpPr>
        <p:spPr>
          <a:xfrm>
            <a:off x="7429007" y="218200"/>
            <a:ext cx="728050" cy="728050"/>
          </a:xfrm>
          <a:custGeom>
            <a:avLst/>
            <a:gdLst/>
            <a:ahLst/>
            <a:cxnLst/>
            <a:rect l="l" t="t" r="r" b="b"/>
            <a:pathLst>
              <a:path w="728050" h="728050">
                <a:moveTo>
                  <a:pt x="0" y="0"/>
                </a:moveTo>
                <a:lnTo>
                  <a:pt x="728050" y="0"/>
                </a:lnTo>
                <a:lnTo>
                  <a:pt x="728050" y="728050"/>
                </a:lnTo>
                <a:lnTo>
                  <a:pt x="0" y="7280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253136" y="1061981"/>
            <a:ext cx="17218803" cy="7317991"/>
          </a:xfrm>
          <a:custGeom>
            <a:avLst/>
            <a:gdLst/>
            <a:ahLst/>
            <a:cxnLst/>
            <a:rect l="l" t="t" r="r" b="b"/>
            <a:pathLst>
              <a:path w="17218803" h="7317991">
                <a:moveTo>
                  <a:pt x="0" y="0"/>
                </a:moveTo>
                <a:lnTo>
                  <a:pt x="17218803" y="0"/>
                </a:lnTo>
                <a:lnTo>
                  <a:pt x="17218803" y="7317992"/>
                </a:lnTo>
                <a:lnTo>
                  <a:pt x="0" y="7317992"/>
                </a:lnTo>
                <a:lnTo>
                  <a:pt x="0" y="0"/>
                </a:lnTo>
                <a:close/>
              </a:path>
            </a:pathLst>
          </a:custGeom>
          <a:blipFill>
            <a:blip r:embed="rId5"/>
            <a:stretch>
              <a:fillRect/>
            </a:stretch>
          </a:blipFill>
        </p:spPr>
      </p:sp>
      <p:sp>
        <p:nvSpPr>
          <p:cNvPr id="9" name="TextBox 9"/>
          <p:cNvSpPr txBox="1"/>
          <p:nvPr/>
        </p:nvSpPr>
        <p:spPr>
          <a:xfrm>
            <a:off x="180975" y="8715019"/>
            <a:ext cx="18904312" cy="1261614"/>
          </a:xfrm>
          <a:prstGeom prst="rect">
            <a:avLst/>
          </a:prstGeom>
        </p:spPr>
        <p:txBody>
          <a:bodyPr lIns="0" tIns="0" rIns="0" bIns="0" rtlCol="0" anchor="t">
            <a:spAutoFit/>
          </a:bodyPr>
          <a:lstStyle/>
          <a:p>
            <a:pPr algn="l">
              <a:lnSpc>
                <a:spcPts val="2469"/>
              </a:lnSpc>
            </a:pPr>
            <a:r>
              <a:rPr lang="en-US" sz="2244" b="1">
                <a:solidFill>
                  <a:srgbClr val="000000"/>
                </a:solidFill>
                <a:latin typeface="Poppins Bold"/>
                <a:ea typeface="Poppins Bold"/>
                <a:cs typeface="Poppins Bold"/>
                <a:sym typeface="Poppins Bold"/>
              </a:rPr>
              <a:t>Code: </a:t>
            </a:r>
            <a:r>
              <a:rPr lang="en-US" sz="2244">
                <a:solidFill>
                  <a:srgbClr val="000000"/>
                </a:solidFill>
                <a:latin typeface="Poppins"/>
                <a:ea typeface="Poppins"/>
                <a:cs typeface="Poppins"/>
                <a:sym typeface="Poppins"/>
              </a:rPr>
              <a:t>The code collects search trend data for the keywords data science, machine learning, and data analytics over the last</a:t>
            </a:r>
          </a:p>
          <a:p>
            <a:pPr algn="l">
              <a:lnSpc>
                <a:spcPts val="2469"/>
              </a:lnSpc>
            </a:pPr>
            <a:r>
              <a:rPr lang="en-US" sz="2244">
                <a:solidFill>
                  <a:srgbClr val="000000"/>
                </a:solidFill>
                <a:latin typeface="Poppins"/>
                <a:ea typeface="Poppins"/>
                <a:cs typeface="Poppins"/>
                <a:sym typeface="Poppins"/>
              </a:rPr>
              <a:t>            12 months and plots a line graph to compare their interest over time.</a:t>
            </a:r>
          </a:p>
          <a:p>
            <a:pPr algn="l">
              <a:lnSpc>
                <a:spcPts val="2469"/>
              </a:lnSpc>
            </a:pPr>
            <a:r>
              <a:rPr lang="en-US" sz="2244" b="1">
                <a:solidFill>
                  <a:srgbClr val="000000"/>
                </a:solidFill>
                <a:latin typeface="Poppins Bold"/>
                <a:ea typeface="Poppins Bold"/>
                <a:cs typeface="Poppins Bold"/>
                <a:sym typeface="Poppins Bold"/>
              </a:rPr>
              <a:t>Graph:</a:t>
            </a:r>
            <a:r>
              <a:rPr lang="en-US" sz="2244">
                <a:solidFill>
                  <a:srgbClr val="000000"/>
                </a:solidFill>
                <a:latin typeface="Poppins"/>
                <a:ea typeface="Poppins"/>
                <a:cs typeface="Poppins"/>
                <a:sym typeface="Poppins"/>
              </a:rPr>
              <a:t> It shows that machine learning has the highest search popularity, followed by data science, while data analytics has</a:t>
            </a:r>
          </a:p>
          <a:p>
            <a:pPr algn="l">
              <a:lnSpc>
                <a:spcPts val="2469"/>
              </a:lnSpc>
            </a:pPr>
            <a:r>
              <a:rPr lang="en-US" sz="2244">
                <a:solidFill>
                  <a:srgbClr val="000000"/>
                </a:solidFill>
                <a:latin typeface="Poppins"/>
                <a:ea typeface="Poppins"/>
                <a:cs typeface="Poppins"/>
                <a:sym typeface="Poppins"/>
              </a:rPr>
              <a:t>             comparatively lower interest. 📈</a:t>
            </a:r>
          </a:p>
        </p:txBody>
      </p:sp>
      <p:grpSp>
        <p:nvGrpSpPr>
          <p:cNvPr id="10" name="Group 10"/>
          <p:cNvGrpSpPr/>
          <p:nvPr/>
        </p:nvGrpSpPr>
        <p:grpSpPr>
          <a:xfrm rot="5400000">
            <a:off x="10768372" y="8569153"/>
            <a:ext cx="816958" cy="3638092"/>
            <a:chOff x="0" y="0"/>
            <a:chExt cx="676978" cy="3014730"/>
          </a:xfrm>
        </p:grpSpPr>
        <p:sp>
          <p:nvSpPr>
            <p:cNvPr id="11" name="Freeform 11"/>
            <p:cNvSpPr/>
            <p:nvPr/>
          </p:nvSpPr>
          <p:spPr>
            <a:xfrm>
              <a:off x="0" y="0"/>
              <a:ext cx="676978" cy="3014731"/>
            </a:xfrm>
            <a:custGeom>
              <a:avLst/>
              <a:gdLst/>
              <a:ahLst/>
              <a:cxnLst/>
              <a:rect l="l" t="t" r="r" b="b"/>
              <a:pathLst>
                <a:path w="676978" h="3014731">
                  <a:moveTo>
                    <a:pt x="225781" y="19070"/>
                  </a:moveTo>
                  <a:cubicBezTo>
                    <a:pt x="260376" y="7556"/>
                    <a:pt x="299945" y="0"/>
                    <a:pt x="338671" y="0"/>
                  </a:cubicBezTo>
                  <a:cubicBezTo>
                    <a:pt x="377398" y="0"/>
                    <a:pt x="414663" y="6476"/>
                    <a:pt x="449004" y="17990"/>
                  </a:cubicBezTo>
                  <a:cubicBezTo>
                    <a:pt x="449736" y="18350"/>
                    <a:pt x="450466" y="18350"/>
                    <a:pt x="451197" y="18710"/>
                  </a:cubicBezTo>
                  <a:cubicBezTo>
                    <a:pt x="580162" y="64765"/>
                    <a:pt x="675151" y="186379"/>
                    <a:pt x="676978" y="377413"/>
                  </a:cubicBezTo>
                  <a:lnTo>
                    <a:pt x="676978" y="3014731"/>
                  </a:lnTo>
                  <a:lnTo>
                    <a:pt x="0" y="3014731"/>
                  </a:lnTo>
                  <a:lnTo>
                    <a:pt x="0" y="379370"/>
                  </a:lnTo>
                  <a:cubicBezTo>
                    <a:pt x="1827" y="185660"/>
                    <a:pt x="95354" y="64045"/>
                    <a:pt x="225781" y="19070"/>
                  </a:cubicBezTo>
                  <a:close/>
                </a:path>
              </a:pathLst>
            </a:custGeom>
            <a:solidFill>
              <a:srgbClr val="24C6F1">
                <a:alpha val="57647"/>
              </a:srgbClr>
            </a:solidFill>
            <a:ln w="38100" cap="sq">
              <a:solidFill>
                <a:srgbClr val="FFFFFF">
                  <a:alpha val="57647"/>
                </a:srgbClr>
              </a:solidFill>
              <a:prstDash val="solid"/>
              <a:miter/>
            </a:ln>
          </p:spPr>
        </p:sp>
        <p:sp>
          <p:nvSpPr>
            <p:cNvPr id="12" name="TextBox 12"/>
            <p:cNvSpPr txBox="1"/>
            <p:nvPr/>
          </p:nvSpPr>
          <p:spPr>
            <a:xfrm>
              <a:off x="0" y="69850"/>
              <a:ext cx="676978"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rot="5400000">
            <a:off x="12991620" y="9998375"/>
            <a:ext cx="940602" cy="779648"/>
            <a:chOff x="0" y="0"/>
            <a:chExt cx="1081361" cy="896321"/>
          </a:xfrm>
        </p:grpSpPr>
        <p:sp>
          <p:nvSpPr>
            <p:cNvPr id="14" name="Freeform 14"/>
            <p:cNvSpPr/>
            <p:nvPr/>
          </p:nvSpPr>
          <p:spPr>
            <a:xfrm>
              <a:off x="64502" y="83652"/>
              <a:ext cx="952357" cy="812668"/>
            </a:xfrm>
            <a:custGeom>
              <a:avLst/>
              <a:gdLst/>
              <a:ahLst/>
              <a:cxnLst/>
              <a:rect l="l" t="t" r="r" b="b"/>
              <a:pathLst>
                <a:path w="952357" h="812668">
                  <a:moveTo>
                    <a:pt x="552704" y="43209"/>
                  </a:moveTo>
                  <a:lnTo>
                    <a:pt x="940334" y="685808"/>
                  </a:lnTo>
                  <a:cubicBezTo>
                    <a:pt x="955919" y="711644"/>
                    <a:pt x="956383" y="743871"/>
                    <a:pt x="941548" y="770145"/>
                  </a:cubicBezTo>
                  <a:cubicBezTo>
                    <a:pt x="926712" y="796420"/>
                    <a:pt x="898878" y="812669"/>
                    <a:pt x="868705" y="812669"/>
                  </a:cubicBezTo>
                  <a:lnTo>
                    <a:pt x="83653" y="812669"/>
                  </a:lnTo>
                  <a:cubicBezTo>
                    <a:pt x="53480" y="812669"/>
                    <a:pt x="25645" y="796420"/>
                    <a:pt x="10810" y="770145"/>
                  </a:cubicBezTo>
                  <a:cubicBezTo>
                    <a:pt x="-4026" y="743871"/>
                    <a:pt x="-3562" y="711644"/>
                    <a:pt x="12023" y="685808"/>
                  </a:cubicBezTo>
                  <a:lnTo>
                    <a:pt x="399653" y="43209"/>
                  </a:lnTo>
                  <a:cubicBezTo>
                    <a:pt x="415829" y="16393"/>
                    <a:pt x="444862" y="0"/>
                    <a:pt x="476179" y="0"/>
                  </a:cubicBezTo>
                  <a:cubicBezTo>
                    <a:pt x="507496" y="0"/>
                    <a:pt x="536528" y="16393"/>
                    <a:pt x="552704" y="43209"/>
                  </a:cubicBezTo>
                  <a:close/>
                </a:path>
              </a:pathLst>
            </a:custGeom>
            <a:solidFill>
              <a:srgbClr val="24C6F1">
                <a:alpha val="57647"/>
              </a:srgbClr>
            </a:solidFill>
            <a:ln w="38100" cap="sq">
              <a:solidFill>
                <a:srgbClr val="F6F6F6">
                  <a:alpha val="57647"/>
                </a:srgbClr>
              </a:solidFill>
              <a:prstDash val="solid"/>
              <a:miter/>
            </a:ln>
          </p:spPr>
        </p:sp>
        <p:sp>
          <p:nvSpPr>
            <p:cNvPr id="15" name="TextBox 15"/>
            <p:cNvSpPr txBox="1"/>
            <p:nvPr/>
          </p:nvSpPr>
          <p:spPr>
            <a:xfrm>
              <a:off x="168963" y="358999"/>
              <a:ext cx="743436" cy="47329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rot="5400000">
            <a:off x="7780603" y="8569153"/>
            <a:ext cx="816958" cy="3638092"/>
            <a:chOff x="0" y="0"/>
            <a:chExt cx="676978" cy="3014730"/>
          </a:xfrm>
        </p:grpSpPr>
        <p:sp>
          <p:nvSpPr>
            <p:cNvPr id="17" name="Freeform 17"/>
            <p:cNvSpPr/>
            <p:nvPr/>
          </p:nvSpPr>
          <p:spPr>
            <a:xfrm>
              <a:off x="0" y="0"/>
              <a:ext cx="676978" cy="3014731"/>
            </a:xfrm>
            <a:custGeom>
              <a:avLst/>
              <a:gdLst/>
              <a:ahLst/>
              <a:cxnLst/>
              <a:rect l="l" t="t" r="r" b="b"/>
              <a:pathLst>
                <a:path w="676978" h="3014731">
                  <a:moveTo>
                    <a:pt x="225781" y="19070"/>
                  </a:moveTo>
                  <a:cubicBezTo>
                    <a:pt x="260376" y="7556"/>
                    <a:pt x="299945" y="0"/>
                    <a:pt x="338671" y="0"/>
                  </a:cubicBezTo>
                  <a:cubicBezTo>
                    <a:pt x="377398" y="0"/>
                    <a:pt x="414663" y="6476"/>
                    <a:pt x="449004" y="17990"/>
                  </a:cubicBezTo>
                  <a:cubicBezTo>
                    <a:pt x="449736" y="18350"/>
                    <a:pt x="450466" y="18350"/>
                    <a:pt x="451197" y="18710"/>
                  </a:cubicBezTo>
                  <a:cubicBezTo>
                    <a:pt x="580162" y="64765"/>
                    <a:pt x="675151" y="186379"/>
                    <a:pt x="676978" y="377413"/>
                  </a:cubicBezTo>
                  <a:lnTo>
                    <a:pt x="676978" y="3014731"/>
                  </a:lnTo>
                  <a:lnTo>
                    <a:pt x="0" y="3014731"/>
                  </a:lnTo>
                  <a:lnTo>
                    <a:pt x="0" y="379370"/>
                  </a:lnTo>
                  <a:cubicBezTo>
                    <a:pt x="1827" y="185660"/>
                    <a:pt x="95354" y="64045"/>
                    <a:pt x="225781" y="19070"/>
                  </a:cubicBezTo>
                  <a:close/>
                </a:path>
              </a:pathLst>
            </a:custGeom>
            <a:solidFill>
              <a:srgbClr val="15B1DB">
                <a:alpha val="57647"/>
              </a:srgbClr>
            </a:solidFill>
            <a:ln w="38100" cap="sq">
              <a:solidFill>
                <a:srgbClr val="FFFFFF">
                  <a:alpha val="57647"/>
                </a:srgbClr>
              </a:solidFill>
              <a:prstDash val="solid"/>
              <a:miter/>
            </a:ln>
          </p:spPr>
        </p:sp>
        <p:sp>
          <p:nvSpPr>
            <p:cNvPr id="18" name="TextBox 18"/>
            <p:cNvSpPr txBox="1"/>
            <p:nvPr/>
          </p:nvSpPr>
          <p:spPr>
            <a:xfrm>
              <a:off x="0" y="69850"/>
              <a:ext cx="676978"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rot="5400000">
            <a:off x="4589282" y="8569153"/>
            <a:ext cx="816958" cy="3638092"/>
            <a:chOff x="0" y="0"/>
            <a:chExt cx="676978" cy="3014730"/>
          </a:xfrm>
        </p:grpSpPr>
        <p:sp>
          <p:nvSpPr>
            <p:cNvPr id="20" name="Freeform 20"/>
            <p:cNvSpPr/>
            <p:nvPr/>
          </p:nvSpPr>
          <p:spPr>
            <a:xfrm>
              <a:off x="0" y="0"/>
              <a:ext cx="676978" cy="3014731"/>
            </a:xfrm>
            <a:custGeom>
              <a:avLst/>
              <a:gdLst/>
              <a:ahLst/>
              <a:cxnLst/>
              <a:rect l="l" t="t" r="r" b="b"/>
              <a:pathLst>
                <a:path w="676978" h="3014731">
                  <a:moveTo>
                    <a:pt x="225781" y="19070"/>
                  </a:moveTo>
                  <a:cubicBezTo>
                    <a:pt x="260376" y="7556"/>
                    <a:pt x="299945" y="0"/>
                    <a:pt x="338671" y="0"/>
                  </a:cubicBezTo>
                  <a:cubicBezTo>
                    <a:pt x="377398" y="0"/>
                    <a:pt x="414663" y="6476"/>
                    <a:pt x="449004" y="17990"/>
                  </a:cubicBezTo>
                  <a:cubicBezTo>
                    <a:pt x="449736" y="18350"/>
                    <a:pt x="450466" y="18350"/>
                    <a:pt x="451197" y="18710"/>
                  </a:cubicBezTo>
                  <a:cubicBezTo>
                    <a:pt x="580162" y="64765"/>
                    <a:pt x="675151" y="186379"/>
                    <a:pt x="676978" y="377413"/>
                  </a:cubicBezTo>
                  <a:lnTo>
                    <a:pt x="676978" y="3014731"/>
                  </a:lnTo>
                  <a:lnTo>
                    <a:pt x="0" y="3014731"/>
                  </a:lnTo>
                  <a:lnTo>
                    <a:pt x="0" y="379370"/>
                  </a:lnTo>
                  <a:cubicBezTo>
                    <a:pt x="1827" y="185660"/>
                    <a:pt x="95354" y="64045"/>
                    <a:pt x="225781" y="19070"/>
                  </a:cubicBezTo>
                  <a:close/>
                </a:path>
              </a:pathLst>
            </a:custGeom>
            <a:solidFill>
              <a:srgbClr val="0077CD">
                <a:alpha val="57647"/>
              </a:srgbClr>
            </a:solidFill>
            <a:ln w="38100" cap="sq">
              <a:solidFill>
                <a:srgbClr val="FFFFFF">
                  <a:alpha val="57647"/>
                </a:srgbClr>
              </a:solidFill>
              <a:prstDash val="solid"/>
              <a:miter/>
            </a:ln>
          </p:spPr>
        </p:sp>
        <p:sp>
          <p:nvSpPr>
            <p:cNvPr id="21" name="TextBox 21"/>
            <p:cNvSpPr txBox="1"/>
            <p:nvPr/>
          </p:nvSpPr>
          <p:spPr>
            <a:xfrm>
              <a:off x="0" y="69850"/>
              <a:ext cx="676978"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2" name="Group 22"/>
          <p:cNvGrpSpPr/>
          <p:nvPr/>
        </p:nvGrpSpPr>
        <p:grpSpPr>
          <a:xfrm rot="5400000">
            <a:off x="1484349" y="8569153"/>
            <a:ext cx="816958" cy="3638092"/>
            <a:chOff x="0" y="0"/>
            <a:chExt cx="676978" cy="3014730"/>
          </a:xfrm>
        </p:grpSpPr>
        <p:sp>
          <p:nvSpPr>
            <p:cNvPr id="23" name="Freeform 23"/>
            <p:cNvSpPr/>
            <p:nvPr/>
          </p:nvSpPr>
          <p:spPr>
            <a:xfrm>
              <a:off x="0" y="0"/>
              <a:ext cx="676978" cy="3014731"/>
            </a:xfrm>
            <a:custGeom>
              <a:avLst/>
              <a:gdLst/>
              <a:ahLst/>
              <a:cxnLst/>
              <a:rect l="l" t="t" r="r" b="b"/>
              <a:pathLst>
                <a:path w="676978" h="3014731">
                  <a:moveTo>
                    <a:pt x="225781" y="19070"/>
                  </a:moveTo>
                  <a:cubicBezTo>
                    <a:pt x="260376" y="7556"/>
                    <a:pt x="299945" y="0"/>
                    <a:pt x="338671" y="0"/>
                  </a:cubicBezTo>
                  <a:cubicBezTo>
                    <a:pt x="377398" y="0"/>
                    <a:pt x="414663" y="6476"/>
                    <a:pt x="449004" y="17990"/>
                  </a:cubicBezTo>
                  <a:cubicBezTo>
                    <a:pt x="449736" y="18350"/>
                    <a:pt x="450466" y="18350"/>
                    <a:pt x="451197" y="18710"/>
                  </a:cubicBezTo>
                  <a:cubicBezTo>
                    <a:pt x="580162" y="64765"/>
                    <a:pt x="675151" y="186379"/>
                    <a:pt x="676978" y="377413"/>
                  </a:cubicBezTo>
                  <a:lnTo>
                    <a:pt x="676978" y="3014731"/>
                  </a:lnTo>
                  <a:lnTo>
                    <a:pt x="0" y="3014731"/>
                  </a:lnTo>
                  <a:lnTo>
                    <a:pt x="0" y="379370"/>
                  </a:lnTo>
                  <a:cubicBezTo>
                    <a:pt x="1827" y="185660"/>
                    <a:pt x="95354" y="64045"/>
                    <a:pt x="225781" y="19070"/>
                  </a:cubicBezTo>
                  <a:close/>
                </a:path>
              </a:pathLst>
            </a:custGeom>
            <a:solidFill>
              <a:srgbClr val="0064CD">
                <a:alpha val="57647"/>
              </a:srgbClr>
            </a:solidFill>
            <a:ln w="38100" cap="sq">
              <a:solidFill>
                <a:srgbClr val="FFFFFF">
                  <a:alpha val="57647"/>
                </a:srgbClr>
              </a:solidFill>
              <a:prstDash val="solid"/>
              <a:miter/>
            </a:ln>
          </p:spPr>
        </p:sp>
        <p:sp>
          <p:nvSpPr>
            <p:cNvPr id="24" name="TextBox 24"/>
            <p:cNvSpPr txBox="1"/>
            <p:nvPr/>
          </p:nvSpPr>
          <p:spPr>
            <a:xfrm>
              <a:off x="0" y="69850"/>
              <a:ext cx="676978" cy="294488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sp>
        <p:nvSpPr>
          <p:cNvPr id="2" name="TextBox 2"/>
          <p:cNvSpPr txBox="1"/>
          <p:nvPr/>
        </p:nvSpPr>
        <p:spPr>
          <a:xfrm>
            <a:off x="454782" y="1895570"/>
            <a:ext cx="16804518" cy="6738527"/>
          </a:xfrm>
          <a:prstGeom prst="rect">
            <a:avLst/>
          </a:prstGeom>
        </p:spPr>
        <p:txBody>
          <a:bodyPr lIns="0" tIns="0" rIns="0" bIns="0" rtlCol="0" anchor="t">
            <a:spAutoFit/>
          </a:bodyPr>
          <a:lstStyle/>
          <a:p>
            <a:pPr algn="ctr">
              <a:lnSpc>
                <a:spcPts val="5374"/>
              </a:lnSpc>
            </a:pPr>
            <a:r>
              <a:rPr lang="en-US" sz="3257">
                <a:solidFill>
                  <a:srgbClr val="000000"/>
                </a:solidFill>
                <a:latin typeface="Poppins"/>
                <a:ea typeface="Poppins"/>
                <a:cs typeface="Poppins"/>
                <a:sym typeface="Poppins"/>
              </a:rPr>
              <a:t>This project studies the popularity of data-related keywords using Google search trend data. It focuses on </a:t>
            </a:r>
            <a:r>
              <a:rPr lang="en-US" sz="3257" b="1">
                <a:solidFill>
                  <a:srgbClr val="000000"/>
                </a:solidFill>
                <a:latin typeface="Poppins Bold"/>
                <a:ea typeface="Poppins Bold"/>
                <a:cs typeface="Poppins Bold"/>
                <a:sym typeface="Poppins Bold"/>
              </a:rPr>
              <a:t>Data Science, Machine Learning, and Data Analytics</a:t>
            </a:r>
            <a:r>
              <a:rPr lang="en-US" sz="3257">
                <a:solidFill>
                  <a:srgbClr val="000000"/>
                </a:solidFill>
                <a:latin typeface="Poppins"/>
                <a:ea typeface="Poppins"/>
                <a:cs typeface="Poppins"/>
                <a:sym typeface="Poppins"/>
              </a:rPr>
              <a:t> to understand how people's interest in these topics has changed over time and which one is searched the most. The project collects data from the last 12 months and presents it using graphs so the comparison is easy to understand.</a:t>
            </a:r>
          </a:p>
          <a:p>
            <a:pPr algn="ctr">
              <a:lnSpc>
                <a:spcPts val="5374"/>
              </a:lnSpc>
            </a:pPr>
            <a:r>
              <a:rPr lang="en-US" sz="3257">
                <a:solidFill>
                  <a:srgbClr val="000000"/>
                </a:solidFill>
                <a:latin typeface="Poppins"/>
                <a:ea typeface="Poppins"/>
                <a:cs typeface="Poppins"/>
                <a:sym typeface="Poppins"/>
              </a:rPr>
              <a:t>The analysis compares these keywords and shows their trends over time. The results indicate that </a:t>
            </a:r>
            <a:r>
              <a:rPr lang="en-US" sz="3257" b="1">
                <a:solidFill>
                  <a:srgbClr val="000000"/>
                </a:solidFill>
                <a:latin typeface="Poppins Bold"/>
                <a:ea typeface="Poppins Bold"/>
                <a:cs typeface="Poppins Bold"/>
                <a:sym typeface="Poppins Bold"/>
              </a:rPr>
              <a:t>Machine Learning has the highest search interest</a:t>
            </a:r>
            <a:r>
              <a:rPr lang="en-US" sz="3257">
                <a:solidFill>
                  <a:srgbClr val="000000"/>
                </a:solidFill>
                <a:latin typeface="Poppins"/>
                <a:ea typeface="Poppins"/>
                <a:cs typeface="Poppins"/>
                <a:sym typeface="Poppins"/>
              </a:rPr>
              <a:t>, followed by </a:t>
            </a:r>
            <a:r>
              <a:rPr lang="en-US" sz="3257" b="1">
                <a:solidFill>
                  <a:srgbClr val="000000"/>
                </a:solidFill>
                <a:latin typeface="Poppins Bold"/>
                <a:ea typeface="Poppins Bold"/>
                <a:cs typeface="Poppins Bold"/>
                <a:sym typeface="Poppins Bold"/>
              </a:rPr>
              <a:t>Data Science,</a:t>
            </a:r>
            <a:r>
              <a:rPr lang="en-US" sz="3257">
                <a:solidFill>
                  <a:srgbClr val="000000"/>
                </a:solidFill>
                <a:latin typeface="Poppins"/>
                <a:ea typeface="Poppins"/>
                <a:cs typeface="Poppins"/>
                <a:sym typeface="Poppins"/>
              </a:rPr>
              <a:t> while </a:t>
            </a:r>
            <a:r>
              <a:rPr lang="en-US" sz="3257" b="1">
                <a:solidFill>
                  <a:srgbClr val="000000"/>
                </a:solidFill>
                <a:latin typeface="Poppins Bold"/>
                <a:ea typeface="Poppins Bold"/>
                <a:cs typeface="Poppins Bold"/>
                <a:sym typeface="Poppins Bold"/>
              </a:rPr>
              <a:t>Data Analytics </a:t>
            </a:r>
            <a:r>
              <a:rPr lang="en-US" sz="3257">
                <a:solidFill>
                  <a:srgbClr val="000000"/>
                </a:solidFill>
                <a:latin typeface="Poppins"/>
                <a:ea typeface="Poppins"/>
                <a:cs typeface="Poppins"/>
                <a:sym typeface="Poppins"/>
              </a:rPr>
              <a:t>has </a:t>
            </a:r>
            <a:r>
              <a:rPr lang="en-US" sz="3257" b="1">
                <a:solidFill>
                  <a:srgbClr val="000000"/>
                </a:solidFill>
                <a:latin typeface="Poppins Bold"/>
                <a:ea typeface="Poppins Bold"/>
                <a:cs typeface="Poppins Bold"/>
                <a:sym typeface="Poppins Bold"/>
              </a:rPr>
              <a:t>lower but slowly increasing interest</a:t>
            </a:r>
            <a:r>
              <a:rPr lang="en-US" sz="3257">
                <a:solidFill>
                  <a:srgbClr val="000000"/>
                </a:solidFill>
                <a:latin typeface="Poppins"/>
                <a:ea typeface="Poppins"/>
                <a:cs typeface="Poppins"/>
                <a:sym typeface="Poppins"/>
              </a:rPr>
              <a:t>. This helps show current technology trends and the growing importance of data-related skills. 📊</a:t>
            </a:r>
          </a:p>
        </p:txBody>
      </p:sp>
      <p:grpSp>
        <p:nvGrpSpPr>
          <p:cNvPr id="3" name="Group 3"/>
          <p:cNvGrpSpPr/>
          <p:nvPr/>
        </p:nvGrpSpPr>
        <p:grpSpPr>
          <a:xfrm rot="5400000">
            <a:off x="10768372" y="7997653"/>
            <a:ext cx="816958" cy="3638092"/>
            <a:chOff x="0" y="0"/>
            <a:chExt cx="676978" cy="3014730"/>
          </a:xfrm>
        </p:grpSpPr>
        <p:sp>
          <p:nvSpPr>
            <p:cNvPr id="4" name="Freeform 4"/>
            <p:cNvSpPr/>
            <p:nvPr/>
          </p:nvSpPr>
          <p:spPr>
            <a:xfrm>
              <a:off x="0" y="0"/>
              <a:ext cx="676978" cy="3014731"/>
            </a:xfrm>
            <a:custGeom>
              <a:avLst/>
              <a:gdLst/>
              <a:ahLst/>
              <a:cxnLst/>
              <a:rect l="l" t="t" r="r" b="b"/>
              <a:pathLst>
                <a:path w="676978" h="3014731">
                  <a:moveTo>
                    <a:pt x="225781" y="19070"/>
                  </a:moveTo>
                  <a:cubicBezTo>
                    <a:pt x="260376" y="7556"/>
                    <a:pt x="299945" y="0"/>
                    <a:pt x="338671" y="0"/>
                  </a:cubicBezTo>
                  <a:cubicBezTo>
                    <a:pt x="377398" y="0"/>
                    <a:pt x="414663" y="6476"/>
                    <a:pt x="449004" y="17990"/>
                  </a:cubicBezTo>
                  <a:cubicBezTo>
                    <a:pt x="449736" y="18350"/>
                    <a:pt x="450466" y="18350"/>
                    <a:pt x="451197" y="18710"/>
                  </a:cubicBezTo>
                  <a:cubicBezTo>
                    <a:pt x="580162" y="64765"/>
                    <a:pt x="675151" y="186379"/>
                    <a:pt x="676978" y="377413"/>
                  </a:cubicBezTo>
                  <a:lnTo>
                    <a:pt x="676978" y="3014731"/>
                  </a:lnTo>
                  <a:lnTo>
                    <a:pt x="0" y="3014731"/>
                  </a:lnTo>
                  <a:lnTo>
                    <a:pt x="0" y="379370"/>
                  </a:lnTo>
                  <a:cubicBezTo>
                    <a:pt x="1827" y="185660"/>
                    <a:pt x="95354" y="64045"/>
                    <a:pt x="225781" y="19070"/>
                  </a:cubicBezTo>
                  <a:close/>
                </a:path>
              </a:pathLst>
            </a:custGeom>
            <a:solidFill>
              <a:srgbClr val="24C6F1">
                <a:alpha val="57647"/>
              </a:srgbClr>
            </a:solidFill>
            <a:ln w="38100" cap="sq">
              <a:solidFill>
                <a:srgbClr val="FFFFFF">
                  <a:alpha val="57647"/>
                </a:srgbClr>
              </a:solidFill>
              <a:prstDash val="solid"/>
              <a:miter/>
            </a:ln>
          </p:spPr>
        </p:sp>
        <p:sp>
          <p:nvSpPr>
            <p:cNvPr id="5" name="TextBox 5"/>
            <p:cNvSpPr txBox="1"/>
            <p:nvPr/>
          </p:nvSpPr>
          <p:spPr>
            <a:xfrm>
              <a:off x="0" y="69850"/>
              <a:ext cx="676978"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5400000">
            <a:off x="12991620" y="9426875"/>
            <a:ext cx="940602" cy="779648"/>
            <a:chOff x="0" y="0"/>
            <a:chExt cx="1081361" cy="896321"/>
          </a:xfrm>
        </p:grpSpPr>
        <p:sp>
          <p:nvSpPr>
            <p:cNvPr id="7" name="Freeform 7"/>
            <p:cNvSpPr/>
            <p:nvPr/>
          </p:nvSpPr>
          <p:spPr>
            <a:xfrm>
              <a:off x="64502" y="83652"/>
              <a:ext cx="952357" cy="812668"/>
            </a:xfrm>
            <a:custGeom>
              <a:avLst/>
              <a:gdLst/>
              <a:ahLst/>
              <a:cxnLst/>
              <a:rect l="l" t="t" r="r" b="b"/>
              <a:pathLst>
                <a:path w="952357" h="812668">
                  <a:moveTo>
                    <a:pt x="552704" y="43209"/>
                  </a:moveTo>
                  <a:lnTo>
                    <a:pt x="940334" y="685808"/>
                  </a:lnTo>
                  <a:cubicBezTo>
                    <a:pt x="955919" y="711644"/>
                    <a:pt x="956383" y="743871"/>
                    <a:pt x="941548" y="770145"/>
                  </a:cubicBezTo>
                  <a:cubicBezTo>
                    <a:pt x="926712" y="796420"/>
                    <a:pt x="898878" y="812669"/>
                    <a:pt x="868705" y="812669"/>
                  </a:cubicBezTo>
                  <a:lnTo>
                    <a:pt x="83653" y="812669"/>
                  </a:lnTo>
                  <a:cubicBezTo>
                    <a:pt x="53480" y="812669"/>
                    <a:pt x="25645" y="796420"/>
                    <a:pt x="10810" y="770145"/>
                  </a:cubicBezTo>
                  <a:cubicBezTo>
                    <a:pt x="-4026" y="743871"/>
                    <a:pt x="-3562" y="711644"/>
                    <a:pt x="12023" y="685808"/>
                  </a:cubicBezTo>
                  <a:lnTo>
                    <a:pt x="399653" y="43209"/>
                  </a:lnTo>
                  <a:cubicBezTo>
                    <a:pt x="415829" y="16393"/>
                    <a:pt x="444862" y="0"/>
                    <a:pt x="476179" y="0"/>
                  </a:cubicBezTo>
                  <a:cubicBezTo>
                    <a:pt x="507496" y="0"/>
                    <a:pt x="536528" y="16393"/>
                    <a:pt x="552704" y="43209"/>
                  </a:cubicBezTo>
                  <a:close/>
                </a:path>
              </a:pathLst>
            </a:custGeom>
            <a:solidFill>
              <a:srgbClr val="24C6F1">
                <a:alpha val="57647"/>
              </a:srgbClr>
            </a:solidFill>
            <a:ln w="38100" cap="sq">
              <a:solidFill>
                <a:srgbClr val="F6F6F6">
                  <a:alpha val="57647"/>
                </a:srgbClr>
              </a:solidFill>
              <a:prstDash val="solid"/>
              <a:miter/>
            </a:ln>
          </p:spPr>
        </p:sp>
        <p:sp>
          <p:nvSpPr>
            <p:cNvPr id="8" name="TextBox 8"/>
            <p:cNvSpPr txBox="1"/>
            <p:nvPr/>
          </p:nvSpPr>
          <p:spPr>
            <a:xfrm>
              <a:off x="168963" y="358999"/>
              <a:ext cx="743436" cy="473299"/>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rot="5400000">
            <a:off x="7780603" y="7997653"/>
            <a:ext cx="816958" cy="3638092"/>
            <a:chOff x="0" y="0"/>
            <a:chExt cx="676978" cy="3014730"/>
          </a:xfrm>
        </p:grpSpPr>
        <p:sp>
          <p:nvSpPr>
            <p:cNvPr id="10" name="Freeform 10"/>
            <p:cNvSpPr/>
            <p:nvPr/>
          </p:nvSpPr>
          <p:spPr>
            <a:xfrm>
              <a:off x="0" y="0"/>
              <a:ext cx="676978" cy="3014731"/>
            </a:xfrm>
            <a:custGeom>
              <a:avLst/>
              <a:gdLst/>
              <a:ahLst/>
              <a:cxnLst/>
              <a:rect l="l" t="t" r="r" b="b"/>
              <a:pathLst>
                <a:path w="676978" h="3014731">
                  <a:moveTo>
                    <a:pt x="225781" y="19070"/>
                  </a:moveTo>
                  <a:cubicBezTo>
                    <a:pt x="260376" y="7556"/>
                    <a:pt x="299945" y="0"/>
                    <a:pt x="338671" y="0"/>
                  </a:cubicBezTo>
                  <a:cubicBezTo>
                    <a:pt x="377398" y="0"/>
                    <a:pt x="414663" y="6476"/>
                    <a:pt x="449004" y="17990"/>
                  </a:cubicBezTo>
                  <a:cubicBezTo>
                    <a:pt x="449736" y="18350"/>
                    <a:pt x="450466" y="18350"/>
                    <a:pt x="451197" y="18710"/>
                  </a:cubicBezTo>
                  <a:cubicBezTo>
                    <a:pt x="580162" y="64765"/>
                    <a:pt x="675151" y="186379"/>
                    <a:pt x="676978" y="377413"/>
                  </a:cubicBezTo>
                  <a:lnTo>
                    <a:pt x="676978" y="3014731"/>
                  </a:lnTo>
                  <a:lnTo>
                    <a:pt x="0" y="3014731"/>
                  </a:lnTo>
                  <a:lnTo>
                    <a:pt x="0" y="379370"/>
                  </a:lnTo>
                  <a:cubicBezTo>
                    <a:pt x="1827" y="185660"/>
                    <a:pt x="95354" y="64045"/>
                    <a:pt x="225781" y="19070"/>
                  </a:cubicBezTo>
                  <a:close/>
                </a:path>
              </a:pathLst>
            </a:custGeom>
            <a:solidFill>
              <a:srgbClr val="15B1DB">
                <a:alpha val="57647"/>
              </a:srgbClr>
            </a:solidFill>
            <a:ln w="38100" cap="sq">
              <a:solidFill>
                <a:srgbClr val="FFFFFF">
                  <a:alpha val="57647"/>
                </a:srgbClr>
              </a:solidFill>
              <a:prstDash val="solid"/>
              <a:miter/>
            </a:ln>
          </p:spPr>
        </p:sp>
        <p:sp>
          <p:nvSpPr>
            <p:cNvPr id="11" name="TextBox 11"/>
            <p:cNvSpPr txBox="1"/>
            <p:nvPr/>
          </p:nvSpPr>
          <p:spPr>
            <a:xfrm>
              <a:off x="0" y="69850"/>
              <a:ext cx="676978"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rot="5400000">
            <a:off x="4589282" y="7997653"/>
            <a:ext cx="816958" cy="3638092"/>
            <a:chOff x="0" y="0"/>
            <a:chExt cx="676978" cy="3014730"/>
          </a:xfrm>
        </p:grpSpPr>
        <p:sp>
          <p:nvSpPr>
            <p:cNvPr id="13" name="Freeform 13"/>
            <p:cNvSpPr/>
            <p:nvPr/>
          </p:nvSpPr>
          <p:spPr>
            <a:xfrm>
              <a:off x="0" y="0"/>
              <a:ext cx="676978" cy="3014731"/>
            </a:xfrm>
            <a:custGeom>
              <a:avLst/>
              <a:gdLst/>
              <a:ahLst/>
              <a:cxnLst/>
              <a:rect l="l" t="t" r="r" b="b"/>
              <a:pathLst>
                <a:path w="676978" h="3014731">
                  <a:moveTo>
                    <a:pt x="225781" y="19070"/>
                  </a:moveTo>
                  <a:cubicBezTo>
                    <a:pt x="260376" y="7556"/>
                    <a:pt x="299945" y="0"/>
                    <a:pt x="338671" y="0"/>
                  </a:cubicBezTo>
                  <a:cubicBezTo>
                    <a:pt x="377398" y="0"/>
                    <a:pt x="414663" y="6476"/>
                    <a:pt x="449004" y="17990"/>
                  </a:cubicBezTo>
                  <a:cubicBezTo>
                    <a:pt x="449736" y="18350"/>
                    <a:pt x="450466" y="18350"/>
                    <a:pt x="451197" y="18710"/>
                  </a:cubicBezTo>
                  <a:cubicBezTo>
                    <a:pt x="580162" y="64765"/>
                    <a:pt x="675151" y="186379"/>
                    <a:pt x="676978" y="377413"/>
                  </a:cubicBezTo>
                  <a:lnTo>
                    <a:pt x="676978" y="3014731"/>
                  </a:lnTo>
                  <a:lnTo>
                    <a:pt x="0" y="3014731"/>
                  </a:lnTo>
                  <a:lnTo>
                    <a:pt x="0" y="379370"/>
                  </a:lnTo>
                  <a:cubicBezTo>
                    <a:pt x="1827" y="185660"/>
                    <a:pt x="95354" y="64045"/>
                    <a:pt x="225781" y="19070"/>
                  </a:cubicBezTo>
                  <a:close/>
                </a:path>
              </a:pathLst>
            </a:custGeom>
            <a:solidFill>
              <a:srgbClr val="0077CD">
                <a:alpha val="57647"/>
              </a:srgbClr>
            </a:solidFill>
            <a:ln w="38100" cap="sq">
              <a:solidFill>
                <a:srgbClr val="FFFFFF">
                  <a:alpha val="57647"/>
                </a:srgbClr>
              </a:solidFill>
              <a:prstDash val="solid"/>
              <a:miter/>
            </a:ln>
          </p:spPr>
        </p:sp>
        <p:sp>
          <p:nvSpPr>
            <p:cNvPr id="14" name="TextBox 14"/>
            <p:cNvSpPr txBox="1"/>
            <p:nvPr/>
          </p:nvSpPr>
          <p:spPr>
            <a:xfrm>
              <a:off x="0" y="69850"/>
              <a:ext cx="676978" cy="294488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rot="5400000">
            <a:off x="1484349" y="7997653"/>
            <a:ext cx="816958" cy="3638092"/>
            <a:chOff x="0" y="0"/>
            <a:chExt cx="676978" cy="3014730"/>
          </a:xfrm>
        </p:grpSpPr>
        <p:sp>
          <p:nvSpPr>
            <p:cNvPr id="16" name="Freeform 16"/>
            <p:cNvSpPr/>
            <p:nvPr/>
          </p:nvSpPr>
          <p:spPr>
            <a:xfrm>
              <a:off x="0" y="0"/>
              <a:ext cx="676978" cy="3014731"/>
            </a:xfrm>
            <a:custGeom>
              <a:avLst/>
              <a:gdLst/>
              <a:ahLst/>
              <a:cxnLst/>
              <a:rect l="l" t="t" r="r" b="b"/>
              <a:pathLst>
                <a:path w="676978" h="3014731">
                  <a:moveTo>
                    <a:pt x="225781" y="19070"/>
                  </a:moveTo>
                  <a:cubicBezTo>
                    <a:pt x="260376" y="7556"/>
                    <a:pt x="299945" y="0"/>
                    <a:pt x="338671" y="0"/>
                  </a:cubicBezTo>
                  <a:cubicBezTo>
                    <a:pt x="377398" y="0"/>
                    <a:pt x="414663" y="6476"/>
                    <a:pt x="449004" y="17990"/>
                  </a:cubicBezTo>
                  <a:cubicBezTo>
                    <a:pt x="449736" y="18350"/>
                    <a:pt x="450466" y="18350"/>
                    <a:pt x="451197" y="18710"/>
                  </a:cubicBezTo>
                  <a:cubicBezTo>
                    <a:pt x="580162" y="64765"/>
                    <a:pt x="675151" y="186379"/>
                    <a:pt x="676978" y="377413"/>
                  </a:cubicBezTo>
                  <a:lnTo>
                    <a:pt x="676978" y="3014731"/>
                  </a:lnTo>
                  <a:lnTo>
                    <a:pt x="0" y="3014731"/>
                  </a:lnTo>
                  <a:lnTo>
                    <a:pt x="0" y="379370"/>
                  </a:lnTo>
                  <a:cubicBezTo>
                    <a:pt x="1827" y="185660"/>
                    <a:pt x="95354" y="64045"/>
                    <a:pt x="225781" y="19070"/>
                  </a:cubicBezTo>
                  <a:close/>
                </a:path>
              </a:pathLst>
            </a:custGeom>
            <a:solidFill>
              <a:srgbClr val="0064CD">
                <a:alpha val="57647"/>
              </a:srgbClr>
            </a:solidFill>
            <a:ln w="38100" cap="sq">
              <a:solidFill>
                <a:srgbClr val="FFFFFF">
                  <a:alpha val="57647"/>
                </a:srgbClr>
              </a:solidFill>
              <a:prstDash val="solid"/>
              <a:miter/>
            </a:ln>
          </p:spPr>
        </p:sp>
        <p:sp>
          <p:nvSpPr>
            <p:cNvPr id="17" name="TextBox 17"/>
            <p:cNvSpPr txBox="1"/>
            <p:nvPr/>
          </p:nvSpPr>
          <p:spPr>
            <a:xfrm>
              <a:off x="0" y="69850"/>
              <a:ext cx="676978" cy="294488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5400000">
            <a:off x="-928527" y="-7915643"/>
            <a:ext cx="2871829" cy="15099126"/>
            <a:chOff x="0" y="0"/>
            <a:chExt cx="660400" cy="3472165"/>
          </a:xfrm>
        </p:grpSpPr>
        <p:sp>
          <p:nvSpPr>
            <p:cNvPr id="19" name="Freeform 19"/>
            <p:cNvSpPr/>
            <p:nvPr/>
          </p:nvSpPr>
          <p:spPr>
            <a:xfrm>
              <a:off x="0" y="0"/>
              <a:ext cx="660400" cy="3472165"/>
            </a:xfrm>
            <a:custGeom>
              <a:avLst/>
              <a:gdLst/>
              <a:ahLst/>
              <a:cxnLst/>
              <a:rect l="l" t="t" r="r" b="b"/>
              <a:pathLst>
                <a:path w="660400" h="3472165">
                  <a:moveTo>
                    <a:pt x="220252" y="3453096"/>
                  </a:moveTo>
                  <a:cubicBezTo>
                    <a:pt x="254109" y="3464609"/>
                    <a:pt x="292600" y="3472165"/>
                    <a:pt x="330378" y="3472165"/>
                  </a:cubicBezTo>
                  <a:cubicBezTo>
                    <a:pt x="368157" y="3472165"/>
                    <a:pt x="404509" y="3465688"/>
                    <a:pt x="438009" y="3454174"/>
                  </a:cubicBezTo>
                  <a:cubicBezTo>
                    <a:pt x="438723" y="3453815"/>
                    <a:pt x="439435" y="3453815"/>
                    <a:pt x="440148" y="3453455"/>
                  </a:cubicBezTo>
                  <a:cubicBezTo>
                    <a:pt x="565955" y="3407400"/>
                    <a:pt x="658618" y="3285786"/>
                    <a:pt x="660400" y="3084591"/>
                  </a:cubicBezTo>
                  <a:lnTo>
                    <a:pt x="660400" y="0"/>
                  </a:lnTo>
                  <a:lnTo>
                    <a:pt x="0" y="0"/>
                  </a:lnTo>
                  <a:lnTo>
                    <a:pt x="0" y="3082302"/>
                  </a:lnTo>
                  <a:cubicBezTo>
                    <a:pt x="1782" y="3286505"/>
                    <a:pt x="93019" y="3408120"/>
                    <a:pt x="220252" y="3453096"/>
                  </a:cubicBezTo>
                  <a:close/>
                </a:path>
              </a:pathLst>
            </a:custGeom>
            <a:gradFill rotWithShape="1">
              <a:gsLst>
                <a:gs pos="0">
                  <a:srgbClr val="00C2CB">
                    <a:alpha val="100000"/>
                  </a:srgbClr>
                </a:gs>
                <a:gs pos="50000">
                  <a:srgbClr val="0064CD">
                    <a:alpha val="100000"/>
                  </a:srgbClr>
                </a:gs>
                <a:gs pos="100000">
                  <a:srgbClr val="4689F6">
                    <a:alpha val="100000"/>
                  </a:srgbClr>
                </a:gs>
              </a:gsLst>
              <a:path path="circle">
                <a:fillToRect r="100000" b="100000"/>
              </a:path>
              <a:tileRect l="-100000" t="-100000"/>
            </a:gradFill>
            <a:ln cap="sq">
              <a:noFill/>
              <a:prstDash val="solid"/>
              <a:miter/>
            </a:ln>
          </p:spPr>
        </p:sp>
        <p:sp>
          <p:nvSpPr>
            <p:cNvPr id="20" name="TextBox 20"/>
            <p:cNvSpPr txBox="1"/>
            <p:nvPr/>
          </p:nvSpPr>
          <p:spPr>
            <a:xfrm>
              <a:off x="0" y="-57150"/>
              <a:ext cx="660400" cy="34023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Freeform 21"/>
          <p:cNvSpPr/>
          <p:nvPr/>
        </p:nvSpPr>
        <p:spPr>
          <a:xfrm>
            <a:off x="15832177" y="-251607"/>
            <a:ext cx="2446382" cy="1629902"/>
          </a:xfrm>
          <a:custGeom>
            <a:avLst/>
            <a:gdLst/>
            <a:ahLst/>
            <a:cxnLst/>
            <a:rect l="l" t="t" r="r" b="b"/>
            <a:pathLst>
              <a:path w="2446382" h="1629902">
                <a:moveTo>
                  <a:pt x="0" y="0"/>
                </a:moveTo>
                <a:lnTo>
                  <a:pt x="2446382" y="0"/>
                </a:lnTo>
                <a:lnTo>
                  <a:pt x="2446382" y="1629902"/>
                </a:lnTo>
                <a:lnTo>
                  <a:pt x="0" y="1629902"/>
                </a:lnTo>
                <a:lnTo>
                  <a:pt x="0" y="0"/>
                </a:lnTo>
                <a:close/>
              </a:path>
            </a:pathLst>
          </a:custGeom>
          <a:blipFill>
            <a:blip r:embed="rId2"/>
            <a:stretch>
              <a:fillRect/>
            </a:stretch>
          </a:blipFill>
        </p:spPr>
      </p:sp>
      <p:sp>
        <p:nvSpPr>
          <p:cNvPr id="22" name="TextBox 22"/>
          <p:cNvSpPr txBox="1"/>
          <p:nvPr/>
        </p:nvSpPr>
        <p:spPr>
          <a:xfrm>
            <a:off x="116862" y="11289"/>
            <a:ext cx="7695219" cy="892175"/>
          </a:xfrm>
          <a:prstGeom prst="rect">
            <a:avLst/>
          </a:prstGeom>
        </p:spPr>
        <p:txBody>
          <a:bodyPr lIns="0" tIns="0" rIns="0" bIns="0" rtlCol="0" anchor="t">
            <a:spAutoFit/>
          </a:bodyPr>
          <a:lstStyle/>
          <a:p>
            <a:pPr algn="l">
              <a:lnSpc>
                <a:spcPts val="6999"/>
              </a:lnSpc>
            </a:pPr>
            <a:r>
              <a:rPr lang="en-US" sz="4999" b="1">
                <a:solidFill>
                  <a:srgbClr val="FFFFFF"/>
                </a:solidFill>
                <a:latin typeface="Poppins Bold"/>
                <a:ea typeface="Poppins Bold"/>
                <a:cs typeface="Poppins Bold"/>
                <a:sym typeface="Poppins Bold"/>
              </a:rPr>
              <a:t>EXECUTIVE SUMMARY</a:t>
            </a:r>
          </a:p>
        </p:txBody>
      </p:sp>
      <p:sp>
        <p:nvSpPr>
          <p:cNvPr id="23" name="Freeform 23"/>
          <p:cNvSpPr/>
          <p:nvPr/>
        </p:nvSpPr>
        <p:spPr>
          <a:xfrm>
            <a:off x="8189082" y="218200"/>
            <a:ext cx="728050" cy="728050"/>
          </a:xfrm>
          <a:custGeom>
            <a:avLst/>
            <a:gdLst/>
            <a:ahLst/>
            <a:cxnLst/>
            <a:rect l="l" t="t" r="r" b="b"/>
            <a:pathLst>
              <a:path w="728050" h="728050">
                <a:moveTo>
                  <a:pt x="0" y="0"/>
                </a:moveTo>
                <a:lnTo>
                  <a:pt x="728050" y="0"/>
                </a:lnTo>
                <a:lnTo>
                  <a:pt x="728050" y="728050"/>
                </a:lnTo>
                <a:lnTo>
                  <a:pt x="0" y="7280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559164" cy="10287000"/>
            <a:chOff x="0" y="0"/>
            <a:chExt cx="10078885" cy="13716000"/>
          </a:xfrm>
        </p:grpSpPr>
        <p:pic>
          <p:nvPicPr>
            <p:cNvPr id="3" name="Picture 3"/>
            <p:cNvPicPr>
              <a:picLocks noChangeAspect="1"/>
            </p:cNvPicPr>
            <p:nvPr/>
          </p:nvPicPr>
          <p:blipFill>
            <a:blip r:embed="rId2"/>
            <a:srcRect l="11107" r="15409"/>
            <a:stretch>
              <a:fillRect/>
            </a:stretch>
          </p:blipFill>
          <p:spPr>
            <a:xfrm>
              <a:off x="0" y="0"/>
              <a:ext cx="10078885" cy="13716000"/>
            </a:xfrm>
            <a:prstGeom prst="rect">
              <a:avLst/>
            </a:prstGeom>
          </p:spPr>
        </p:pic>
      </p:grpSp>
      <p:grpSp>
        <p:nvGrpSpPr>
          <p:cNvPr id="4" name="Group 4"/>
          <p:cNvGrpSpPr/>
          <p:nvPr/>
        </p:nvGrpSpPr>
        <p:grpSpPr>
          <a:xfrm rot="5400000">
            <a:off x="13792158" y="-5106996"/>
            <a:ext cx="3375042" cy="9144000"/>
            <a:chOff x="0" y="0"/>
            <a:chExt cx="660400" cy="1789221"/>
          </a:xfrm>
        </p:grpSpPr>
        <p:sp>
          <p:nvSpPr>
            <p:cNvPr id="5" name="Freeform 5"/>
            <p:cNvSpPr/>
            <p:nvPr/>
          </p:nvSpPr>
          <p:spPr>
            <a:xfrm>
              <a:off x="0" y="0"/>
              <a:ext cx="660400" cy="1789221"/>
            </a:xfrm>
            <a:custGeom>
              <a:avLst/>
              <a:gdLst/>
              <a:ahLst/>
              <a:cxnLst/>
              <a:rect l="l" t="t" r="r" b="b"/>
              <a:pathLst>
                <a:path w="660400" h="1789221">
                  <a:moveTo>
                    <a:pt x="220252" y="1770152"/>
                  </a:moveTo>
                  <a:cubicBezTo>
                    <a:pt x="254109" y="1781666"/>
                    <a:pt x="292600" y="1789221"/>
                    <a:pt x="330378" y="1789221"/>
                  </a:cubicBezTo>
                  <a:cubicBezTo>
                    <a:pt x="368157" y="1789221"/>
                    <a:pt x="404509" y="1782744"/>
                    <a:pt x="438009" y="1771231"/>
                  </a:cubicBezTo>
                  <a:cubicBezTo>
                    <a:pt x="438723" y="1770871"/>
                    <a:pt x="439435" y="1770871"/>
                    <a:pt x="440148" y="1770512"/>
                  </a:cubicBezTo>
                  <a:cubicBezTo>
                    <a:pt x="565955" y="1724457"/>
                    <a:pt x="658618" y="1602843"/>
                    <a:pt x="660400" y="1439030"/>
                  </a:cubicBezTo>
                  <a:lnTo>
                    <a:pt x="660400" y="0"/>
                  </a:lnTo>
                  <a:lnTo>
                    <a:pt x="0" y="0"/>
                  </a:lnTo>
                  <a:lnTo>
                    <a:pt x="0" y="1437962"/>
                  </a:lnTo>
                  <a:cubicBezTo>
                    <a:pt x="1782" y="1603561"/>
                    <a:pt x="93019" y="1725177"/>
                    <a:pt x="220252" y="1770152"/>
                  </a:cubicBezTo>
                  <a:close/>
                </a:path>
              </a:pathLst>
            </a:custGeom>
            <a:gradFill rotWithShape="1">
              <a:gsLst>
                <a:gs pos="0">
                  <a:srgbClr val="00C2CB">
                    <a:alpha val="100000"/>
                  </a:srgbClr>
                </a:gs>
                <a:gs pos="100000">
                  <a:srgbClr val="0064CD">
                    <a:alpha val="100000"/>
                  </a:srgbClr>
                </a:gs>
              </a:gsLst>
              <a:path path="circle">
                <a:fillToRect r="100000" b="100000"/>
              </a:path>
              <a:tileRect l="-100000" t="-100000"/>
            </a:gradFill>
            <a:ln cap="sq">
              <a:noFill/>
              <a:prstDash val="solid"/>
              <a:miter/>
            </a:ln>
          </p:spPr>
        </p:sp>
        <p:sp>
          <p:nvSpPr>
            <p:cNvPr id="6" name="TextBox 6"/>
            <p:cNvSpPr txBox="1"/>
            <p:nvPr/>
          </p:nvSpPr>
          <p:spPr>
            <a:xfrm>
              <a:off x="0" y="-57150"/>
              <a:ext cx="660400" cy="171937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TextBox 7"/>
          <p:cNvSpPr txBox="1"/>
          <p:nvPr/>
        </p:nvSpPr>
        <p:spPr>
          <a:xfrm>
            <a:off x="11811646" y="121677"/>
            <a:ext cx="5489150" cy="892175"/>
          </a:xfrm>
          <a:prstGeom prst="rect">
            <a:avLst/>
          </a:prstGeom>
        </p:spPr>
        <p:txBody>
          <a:bodyPr lIns="0" tIns="0" rIns="0" bIns="0" rtlCol="0" anchor="t">
            <a:spAutoFit/>
          </a:bodyPr>
          <a:lstStyle/>
          <a:p>
            <a:pPr algn="r">
              <a:lnSpc>
                <a:spcPts val="6999"/>
              </a:lnSpc>
            </a:pPr>
            <a:r>
              <a:rPr lang="en-US" sz="4999" b="1">
                <a:solidFill>
                  <a:srgbClr val="FFFFFF"/>
                </a:solidFill>
                <a:latin typeface="Poppins Bold"/>
                <a:ea typeface="Poppins Bold"/>
                <a:cs typeface="Poppins Bold"/>
                <a:sym typeface="Poppins Bold"/>
              </a:rPr>
              <a:t>CONCLUSION</a:t>
            </a:r>
          </a:p>
        </p:txBody>
      </p:sp>
      <p:sp>
        <p:nvSpPr>
          <p:cNvPr id="8" name="TextBox 8"/>
          <p:cNvSpPr txBox="1"/>
          <p:nvPr/>
        </p:nvSpPr>
        <p:spPr>
          <a:xfrm>
            <a:off x="7844914" y="1931641"/>
            <a:ext cx="10139619" cy="6328468"/>
          </a:xfrm>
          <a:prstGeom prst="rect">
            <a:avLst/>
          </a:prstGeom>
        </p:spPr>
        <p:txBody>
          <a:bodyPr lIns="0" tIns="0" rIns="0" bIns="0" rtlCol="0" anchor="t">
            <a:spAutoFit/>
          </a:bodyPr>
          <a:lstStyle/>
          <a:p>
            <a:pPr algn="ctr">
              <a:lnSpc>
                <a:spcPts val="4992"/>
              </a:lnSpc>
              <a:spcBef>
                <a:spcPct val="0"/>
              </a:spcBef>
            </a:pPr>
            <a:r>
              <a:rPr lang="en-US" sz="3566">
                <a:solidFill>
                  <a:srgbClr val="000000"/>
                </a:solidFill>
                <a:latin typeface="Poppins"/>
                <a:ea typeface="Poppins"/>
                <a:cs typeface="Poppins"/>
                <a:sym typeface="Poppins"/>
              </a:rPr>
              <a:t>This project analyzed Google search trends for </a:t>
            </a:r>
            <a:r>
              <a:rPr lang="en-US" sz="3566" b="1">
                <a:solidFill>
                  <a:srgbClr val="000000"/>
                </a:solidFill>
                <a:latin typeface="Poppins Bold"/>
                <a:ea typeface="Poppins Bold"/>
                <a:cs typeface="Poppins Bold"/>
                <a:sym typeface="Poppins Bold"/>
              </a:rPr>
              <a:t>Data Science, Machine Learning, and Data Analytics</a:t>
            </a:r>
            <a:r>
              <a:rPr lang="en-US" sz="3566">
                <a:solidFill>
                  <a:srgbClr val="000000"/>
                </a:solidFill>
                <a:latin typeface="Poppins"/>
                <a:ea typeface="Poppins"/>
                <a:cs typeface="Poppins"/>
                <a:sym typeface="Poppins"/>
              </a:rPr>
              <a:t> over the last 12 months. The results show that </a:t>
            </a:r>
            <a:r>
              <a:rPr lang="en-US" sz="3566" b="1">
                <a:solidFill>
                  <a:srgbClr val="000000"/>
                </a:solidFill>
                <a:latin typeface="Poppins Bold"/>
                <a:ea typeface="Poppins Bold"/>
                <a:cs typeface="Poppins Bold"/>
                <a:sym typeface="Poppins Bold"/>
              </a:rPr>
              <a:t>Machine Learning has the highest search interest,</a:t>
            </a:r>
            <a:r>
              <a:rPr lang="en-US" sz="3566">
                <a:solidFill>
                  <a:srgbClr val="000000"/>
                </a:solidFill>
                <a:latin typeface="Poppins"/>
                <a:ea typeface="Poppins"/>
                <a:cs typeface="Poppins"/>
                <a:sym typeface="Poppins"/>
              </a:rPr>
              <a:t> followed by Data Science, while </a:t>
            </a:r>
            <a:r>
              <a:rPr lang="en-US" sz="3566" b="1">
                <a:solidFill>
                  <a:srgbClr val="000000"/>
                </a:solidFill>
                <a:latin typeface="Poppins Bold"/>
                <a:ea typeface="Poppins Bold"/>
                <a:cs typeface="Poppins Bold"/>
                <a:sym typeface="Poppins Bold"/>
              </a:rPr>
              <a:t>Data Analytics </a:t>
            </a:r>
            <a:r>
              <a:rPr lang="en-US" sz="3566">
                <a:solidFill>
                  <a:srgbClr val="000000"/>
                </a:solidFill>
                <a:latin typeface="Poppins"/>
                <a:ea typeface="Poppins"/>
                <a:cs typeface="Poppins"/>
                <a:sym typeface="Poppins"/>
              </a:rPr>
              <a:t>has </a:t>
            </a:r>
            <a:r>
              <a:rPr lang="en-US" sz="3566" b="1">
                <a:solidFill>
                  <a:srgbClr val="000000"/>
                </a:solidFill>
                <a:latin typeface="Poppins Bold"/>
                <a:ea typeface="Poppins Bold"/>
                <a:cs typeface="Poppins Bold"/>
                <a:sym typeface="Poppins Bold"/>
              </a:rPr>
              <a:t>lower but gradually increasing popularity</a:t>
            </a:r>
            <a:r>
              <a:rPr lang="en-US" sz="3566">
                <a:solidFill>
                  <a:srgbClr val="000000"/>
                </a:solidFill>
                <a:latin typeface="Poppins"/>
                <a:ea typeface="Poppins"/>
                <a:cs typeface="Poppins"/>
                <a:sym typeface="Poppins"/>
              </a:rPr>
              <a:t>. Overall, the analysis helps understand current technology trends and highlights the growing demand for data-related skills.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C2CB">
                <a:alpha val="100000"/>
              </a:srgbClr>
            </a:gs>
            <a:gs pos="50000">
              <a:srgbClr val="0064CD">
                <a:alpha val="100000"/>
              </a:srgbClr>
            </a:gs>
            <a:gs pos="100000">
              <a:srgbClr val="4689F6">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2015041" y="4949671"/>
            <a:ext cx="13670840" cy="1293534"/>
          </a:xfrm>
          <a:prstGeom prst="rect">
            <a:avLst/>
          </a:prstGeom>
        </p:spPr>
        <p:txBody>
          <a:bodyPr lIns="0" tIns="0" rIns="0" bIns="0" rtlCol="0" anchor="t">
            <a:spAutoFit/>
          </a:bodyPr>
          <a:lstStyle/>
          <a:p>
            <a:pPr algn="ctr">
              <a:lnSpc>
                <a:spcPts val="10077"/>
              </a:lnSpc>
            </a:pPr>
            <a:r>
              <a:rPr lang="en-US" sz="7198" b="1">
                <a:solidFill>
                  <a:srgbClr val="FFFFFF"/>
                </a:solidFill>
                <a:latin typeface="Poppins Bold"/>
                <a:ea typeface="Poppins Bold"/>
                <a:cs typeface="Poppins Bold"/>
                <a:sym typeface="Poppins Bold"/>
              </a:rPr>
              <a:t>GOOGLE SEARCH ANALYSIS</a:t>
            </a:r>
          </a:p>
        </p:txBody>
      </p:sp>
      <p:sp>
        <p:nvSpPr>
          <p:cNvPr id="3" name="TextBox 3"/>
          <p:cNvSpPr txBox="1"/>
          <p:nvPr/>
        </p:nvSpPr>
        <p:spPr>
          <a:xfrm>
            <a:off x="6435056" y="6413857"/>
            <a:ext cx="5417888" cy="424815"/>
          </a:xfrm>
          <a:prstGeom prst="rect">
            <a:avLst/>
          </a:prstGeom>
        </p:spPr>
        <p:txBody>
          <a:bodyPr lIns="0" tIns="0" rIns="0" bIns="0" rtlCol="0" anchor="t">
            <a:spAutoFit/>
          </a:bodyPr>
          <a:lstStyle/>
          <a:p>
            <a:pPr algn="ctr">
              <a:lnSpc>
                <a:spcPts val="3359"/>
              </a:lnSpc>
            </a:pPr>
            <a:r>
              <a:rPr lang="en-US" sz="2399">
                <a:solidFill>
                  <a:srgbClr val="FFFFFF"/>
                </a:solidFill>
                <a:latin typeface="Poppins"/>
                <a:ea typeface="Poppins"/>
                <a:cs typeface="Poppins"/>
                <a:sym typeface="Poppins"/>
              </a:rPr>
              <a:t>www.google.com</a:t>
            </a:r>
          </a:p>
        </p:txBody>
      </p:sp>
      <p:sp>
        <p:nvSpPr>
          <p:cNvPr id="4" name="Freeform 4"/>
          <p:cNvSpPr/>
          <p:nvPr/>
        </p:nvSpPr>
        <p:spPr>
          <a:xfrm>
            <a:off x="7272511" y="1406718"/>
            <a:ext cx="3742978" cy="3742978"/>
          </a:xfrm>
          <a:custGeom>
            <a:avLst/>
            <a:gdLst/>
            <a:ahLst/>
            <a:cxnLst/>
            <a:rect l="l" t="t" r="r" b="b"/>
            <a:pathLst>
              <a:path w="3742978" h="3742978">
                <a:moveTo>
                  <a:pt x="0" y="0"/>
                </a:moveTo>
                <a:lnTo>
                  <a:pt x="3742978" y="0"/>
                </a:lnTo>
                <a:lnTo>
                  <a:pt x="3742978" y="3742978"/>
                </a:lnTo>
                <a:lnTo>
                  <a:pt x="0" y="3742978"/>
                </a:lnTo>
                <a:lnTo>
                  <a:pt x="0" y="0"/>
                </a:lnTo>
                <a:close/>
              </a:path>
            </a:pathLst>
          </a:custGeom>
          <a:blipFill>
            <a:blip r:embed="rId2"/>
            <a:stretch>
              <a:fillRect/>
            </a:stretch>
          </a:blipFill>
        </p:spPr>
      </p:sp>
      <p:sp>
        <p:nvSpPr>
          <p:cNvPr id="5" name="TextBox 5"/>
          <p:cNvSpPr txBox="1"/>
          <p:nvPr/>
        </p:nvSpPr>
        <p:spPr>
          <a:xfrm>
            <a:off x="11948194" y="9383301"/>
            <a:ext cx="6454124" cy="713199"/>
          </a:xfrm>
          <a:prstGeom prst="rect">
            <a:avLst/>
          </a:prstGeom>
        </p:spPr>
        <p:txBody>
          <a:bodyPr lIns="0" tIns="0" rIns="0" bIns="0" rtlCol="0" anchor="t">
            <a:spAutoFit/>
          </a:bodyPr>
          <a:lstStyle/>
          <a:p>
            <a:pPr algn="ctr">
              <a:lnSpc>
                <a:spcPts val="5560"/>
              </a:lnSpc>
              <a:spcBef>
                <a:spcPct val="0"/>
              </a:spcBef>
            </a:pPr>
            <a:r>
              <a:rPr lang="en-US" sz="3971" b="1">
                <a:solidFill>
                  <a:srgbClr val="FFFFFF"/>
                </a:solidFill>
                <a:latin typeface="Poppins Bold"/>
                <a:ea typeface="Poppins Bold"/>
                <a:cs typeface="Poppins Bold"/>
                <a:sym typeface="Poppins Bold"/>
              </a:rPr>
              <a:t>By - Prabhat Prajapati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902</Words>
  <Application>Microsoft Office PowerPoint</Application>
  <PresentationFormat>Custom</PresentationFormat>
  <Paragraphs>69</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Poppins</vt:lpstr>
      <vt:lpstr>Poppins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Modern Minimalist Business Presentation</dc:title>
  <cp:lastModifiedBy>prabhat prajapati</cp:lastModifiedBy>
  <cp:revision>1</cp:revision>
  <dcterms:created xsi:type="dcterms:W3CDTF">2006-08-16T00:00:00Z</dcterms:created>
  <dcterms:modified xsi:type="dcterms:W3CDTF">2026-03-16T10:44:15Z</dcterms:modified>
  <dc:identifier>DAHEBm3Prvk</dc:identifier>
</cp:coreProperties>
</file>